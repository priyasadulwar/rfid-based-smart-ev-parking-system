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2E969C-8C7A-468B-871F-488E3D17388E}">
  <a:tblStyle styleId="{072E969C-8C7A-468B-871F-488E3D17388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BF3B2FD-289A-4B1A-A23D-F1847609F2F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g3e7dcc61f25_0_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 name="Google Shape;34;g3e7dcc61f25_0_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 name="Google Shape;35;g3e7dcc61f25_0_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e7dcc61f25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e7dcc61f25_0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3e7dcc61f25_0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e7dcc61f25_0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e7dcc61f25_0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g3e7dcc61f25_0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e7dcc61f25_0_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3e7dcc61f25_0_5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3e7dcc61f25_0_5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e7dcc61f25_0_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3e7dcc61f25_0_6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g3e7dcc61f25_0_6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e7dcc61f25_0_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e7dcc61f25_0_7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g3e7dcc61f25_0_7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6" name="Google Shape;40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B1F"/>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10972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64592" y="0"/>
            <a:ext cx="45720" cy="5143500"/>
          </a:xfrm>
          <a:prstGeom prst="rect">
            <a:avLst/>
          </a:prstGeom>
          <a:solidFill>
            <a:srgbClr val="A0714F">
              <a:alpha val="40000"/>
            </a:srgbClr>
          </a:solidFill>
          <a:ln w="12700" cap="flat" cmpd="sng">
            <a:solidFill>
              <a:srgbClr val="A0714F">
                <a:alpha val="4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8988552" y="0"/>
            <a:ext cx="15544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0" y="0"/>
            <a:ext cx="9144000" cy="73152"/>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0" y="5070348"/>
            <a:ext cx="9144000" cy="73152"/>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 name="Google Shape;21;p3" descr="preencoded.png"/>
          <p:cNvPicPr preferRelativeResize="0"/>
          <p:nvPr/>
        </p:nvPicPr>
        <p:blipFill rotWithShape="1">
          <a:blip r:embed="rId3">
            <a:alphaModFix/>
          </a:blip>
          <a:srcRect/>
          <a:stretch/>
        </p:blipFill>
        <p:spPr>
          <a:xfrm>
            <a:off x="2656845" y="4592570"/>
            <a:ext cx="411480" cy="411480"/>
          </a:xfrm>
          <a:prstGeom prst="rect">
            <a:avLst/>
          </a:prstGeom>
          <a:noFill/>
          <a:ln>
            <a:noFill/>
          </a:ln>
        </p:spPr>
      </p:pic>
      <p:pic>
        <p:nvPicPr>
          <p:cNvPr id="22" name="Google Shape;22;p3" descr="preencoded.png"/>
          <p:cNvPicPr preferRelativeResize="0"/>
          <p:nvPr/>
        </p:nvPicPr>
        <p:blipFill rotWithShape="1">
          <a:blip r:embed="rId4">
            <a:alphaModFix/>
          </a:blip>
          <a:srcRect/>
          <a:stretch/>
        </p:blipFill>
        <p:spPr>
          <a:xfrm>
            <a:off x="4393693" y="4592570"/>
            <a:ext cx="411480" cy="411480"/>
          </a:xfrm>
          <a:prstGeom prst="rect">
            <a:avLst/>
          </a:prstGeom>
          <a:noFill/>
          <a:ln>
            <a:noFill/>
          </a:ln>
        </p:spPr>
      </p:pic>
      <p:pic>
        <p:nvPicPr>
          <p:cNvPr id="23" name="Google Shape;23;p3" descr="preencoded.png"/>
          <p:cNvPicPr preferRelativeResize="0"/>
          <p:nvPr/>
        </p:nvPicPr>
        <p:blipFill rotWithShape="1">
          <a:blip r:embed="rId5">
            <a:alphaModFix/>
          </a:blip>
          <a:srcRect/>
          <a:stretch/>
        </p:blipFill>
        <p:spPr>
          <a:xfrm>
            <a:off x="6130540" y="4592570"/>
            <a:ext cx="411480" cy="411480"/>
          </a:xfrm>
          <a:prstGeom prst="rect">
            <a:avLst/>
          </a:prstGeom>
          <a:noFill/>
          <a:ln>
            <a:noFill/>
          </a:ln>
        </p:spPr>
      </p:pic>
      <p:sp>
        <p:nvSpPr>
          <p:cNvPr id="24" name="Google Shape;24;p3"/>
          <p:cNvSpPr/>
          <p:nvPr/>
        </p:nvSpPr>
        <p:spPr>
          <a:xfrm>
            <a:off x="393135" y="1156723"/>
            <a:ext cx="8412600" cy="685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C4956A"/>
              </a:buClr>
              <a:buSzPts val="1800"/>
              <a:buFont typeface="Georgia"/>
              <a:buNone/>
            </a:pPr>
            <a:r>
              <a:rPr lang="en-US" sz="2100" b="1">
                <a:solidFill>
                  <a:srgbClr val="C4956A"/>
                </a:solidFill>
                <a:latin typeface="Georgia"/>
                <a:ea typeface="Georgia"/>
                <a:cs typeface="Georgia"/>
                <a:sym typeface="Georgia"/>
              </a:rPr>
              <a:t>National Institute of Technology Delhi</a:t>
            </a:r>
            <a:endParaRPr sz="2100">
              <a:solidFill>
                <a:schemeClr val="dk1"/>
              </a:solidFill>
              <a:latin typeface="Calibri"/>
              <a:ea typeface="Calibri"/>
              <a:cs typeface="Calibri"/>
              <a:sym typeface="Calibri"/>
            </a:endParaRPr>
          </a:p>
          <a:p>
            <a:pPr marL="0" lvl="0" indent="0" algn="ctr" rtl="0">
              <a:spcBef>
                <a:spcPts val="0"/>
              </a:spcBef>
              <a:spcAft>
                <a:spcPts val="0"/>
              </a:spcAft>
              <a:buClr>
                <a:srgbClr val="FAF7F2"/>
              </a:buClr>
              <a:buSzPts val="2600"/>
              <a:buFont typeface="Georgia"/>
              <a:buNone/>
            </a:pPr>
            <a:endParaRPr sz="2600">
              <a:solidFill>
                <a:schemeClr val="dk1"/>
              </a:solidFill>
              <a:latin typeface="Calibri"/>
              <a:ea typeface="Calibri"/>
              <a:cs typeface="Calibri"/>
              <a:sym typeface="Calibri"/>
            </a:endParaRPr>
          </a:p>
        </p:txBody>
      </p:sp>
      <p:sp>
        <p:nvSpPr>
          <p:cNvPr id="25" name="Google Shape;25;p3"/>
          <p:cNvSpPr/>
          <p:nvPr/>
        </p:nvSpPr>
        <p:spPr>
          <a:xfrm>
            <a:off x="365760" y="1463040"/>
            <a:ext cx="8412480" cy="6858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rgbClr val="FAF7F2"/>
              </a:buClr>
              <a:buSzPts val="2600"/>
              <a:buFont typeface="Georgia"/>
              <a:buNone/>
            </a:pPr>
            <a:r>
              <a:rPr lang="en-US" sz="2600" b="1">
                <a:solidFill>
                  <a:srgbClr val="FAF7F2"/>
                </a:solidFill>
                <a:latin typeface="Georgia"/>
                <a:ea typeface="Georgia"/>
                <a:cs typeface="Georgia"/>
                <a:sym typeface="Georgia"/>
              </a:rPr>
              <a:t>RFID Enabled EV Parking &amp; Charging  System</a:t>
            </a:r>
            <a:endParaRPr sz="2600">
              <a:solidFill>
                <a:schemeClr val="dk1"/>
              </a:solidFill>
              <a:latin typeface="Calibri"/>
              <a:ea typeface="Calibri"/>
              <a:cs typeface="Calibri"/>
              <a:sym typeface="Calibri"/>
            </a:endParaRPr>
          </a:p>
        </p:txBody>
      </p:sp>
      <p:sp>
        <p:nvSpPr>
          <p:cNvPr id="26" name="Google Shape;26;p3"/>
          <p:cNvSpPr/>
          <p:nvPr/>
        </p:nvSpPr>
        <p:spPr>
          <a:xfrm>
            <a:off x="365760" y="2103120"/>
            <a:ext cx="841248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0" i="1" u="none" strike="noStrike" cap="none">
                <a:solidFill>
                  <a:srgbClr val="C4956A"/>
                </a:solidFill>
                <a:latin typeface="Georgia"/>
                <a:ea typeface="Georgia"/>
                <a:cs typeface="Georgia"/>
                <a:sym typeface="Georgia"/>
              </a:rPr>
              <a:t>using ESP32</a:t>
            </a:r>
            <a:endParaRPr sz="2200" b="0" i="0" u="none" strike="noStrike" cap="none">
              <a:solidFill>
                <a:schemeClr val="dk1"/>
              </a:solidFill>
              <a:latin typeface="Calibri"/>
              <a:ea typeface="Calibri"/>
              <a:cs typeface="Calibri"/>
              <a:sym typeface="Calibri"/>
            </a:endParaRPr>
          </a:p>
        </p:txBody>
      </p:sp>
      <p:sp>
        <p:nvSpPr>
          <p:cNvPr id="27" name="Google Shape;27;p3"/>
          <p:cNvSpPr/>
          <p:nvPr/>
        </p:nvSpPr>
        <p:spPr>
          <a:xfrm>
            <a:off x="2743200" y="2697480"/>
            <a:ext cx="3657600" cy="36576"/>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1371600" y="2834640"/>
            <a:ext cx="6400800" cy="1691640"/>
          </a:xfrm>
          <a:prstGeom prst="rect">
            <a:avLst/>
          </a:prstGeom>
          <a:solidFill>
            <a:srgbClr val="8B5E3C">
              <a:alpha val="3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1554480" y="2926080"/>
            <a:ext cx="6035040" cy="1508760"/>
          </a:xfrm>
          <a:prstGeom prst="rect">
            <a:avLst/>
          </a:prstGeom>
          <a:noFill/>
          <a:ln>
            <a:noFill/>
          </a:ln>
        </p:spPr>
        <p:txBody>
          <a:bodyPr spcFirstLastPara="1" wrap="square" lIns="63500" tIns="63500" rIns="63500" bIns="63500" anchor="ctr" anchorCtr="0">
            <a:noAutofit/>
          </a:bodyPr>
          <a:lstStyle/>
          <a:p>
            <a:pPr marL="0" lvl="0" indent="0" algn="l" rtl="0">
              <a:spcBef>
                <a:spcPts val="0"/>
              </a:spcBef>
              <a:spcAft>
                <a:spcPts val="0"/>
              </a:spcAft>
              <a:buClr>
                <a:srgbClr val="C4956A"/>
              </a:buClr>
              <a:buSzPts val="1300"/>
              <a:buFont typeface="Times New Roman"/>
              <a:buNone/>
            </a:pPr>
            <a:r>
              <a:rPr lang="en-US" sz="1300" b="1" dirty="0">
                <a:solidFill>
                  <a:srgbClr val="C4956A"/>
                </a:solidFill>
                <a:latin typeface="Times New Roman"/>
                <a:ea typeface="Times New Roman"/>
                <a:cs typeface="Times New Roman"/>
                <a:sym typeface="Times New Roman"/>
              </a:rPr>
              <a:t>Presented By:</a:t>
            </a:r>
            <a:endParaRPr sz="1300" dirty="0">
              <a:solidFill>
                <a:schemeClr val="dk1"/>
              </a:solidFill>
              <a:latin typeface="Calibri"/>
              <a:ea typeface="Calibri"/>
              <a:cs typeface="Calibri"/>
              <a:sym typeface="Calibri"/>
            </a:endParaRPr>
          </a:p>
          <a:p>
            <a:pPr marL="0" lvl="0" indent="0" algn="l" rtl="0">
              <a:spcBef>
                <a:spcPts val="0"/>
              </a:spcBef>
              <a:spcAft>
                <a:spcPts val="0"/>
              </a:spcAft>
              <a:buClr>
                <a:srgbClr val="F0E6D3"/>
              </a:buClr>
              <a:buSzPts val="1300"/>
              <a:buFont typeface="Times New Roman"/>
              <a:buNone/>
            </a:pPr>
            <a:r>
              <a:rPr lang="en-US" sz="1300" dirty="0">
                <a:solidFill>
                  <a:srgbClr val="F0E6D3"/>
                </a:solidFill>
                <a:latin typeface="Times New Roman"/>
                <a:ea typeface="Times New Roman"/>
                <a:cs typeface="Times New Roman"/>
                <a:sym typeface="Times New Roman"/>
              </a:rPr>
              <a:t>Priya Sadulwar (241230045)  |  Sharvari Kulkarni (241230049)</a:t>
            </a:r>
            <a:endParaRPr sz="13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300"/>
              <a:buFont typeface="Calibri"/>
              <a:buNone/>
            </a:pPr>
            <a:endParaRPr sz="1300" dirty="0">
              <a:solidFill>
                <a:schemeClr val="dk1"/>
              </a:solidFill>
              <a:latin typeface="Calibri"/>
              <a:ea typeface="Calibri"/>
              <a:cs typeface="Calibri"/>
              <a:sym typeface="Calibri"/>
            </a:endParaRPr>
          </a:p>
          <a:p>
            <a:pPr marL="0" lvl="0" indent="0" algn="l" rtl="0">
              <a:spcBef>
                <a:spcPts val="0"/>
              </a:spcBef>
              <a:spcAft>
                <a:spcPts val="0"/>
              </a:spcAft>
              <a:buClr>
                <a:srgbClr val="C4956A"/>
              </a:buClr>
              <a:buSzPts val="1300"/>
              <a:buFont typeface="Times New Roman"/>
              <a:buNone/>
            </a:pPr>
            <a:r>
              <a:rPr lang="en-US" sz="1300" b="1" dirty="0">
                <a:solidFill>
                  <a:srgbClr val="C4956A"/>
                </a:solidFill>
                <a:latin typeface="Times New Roman"/>
                <a:ea typeface="Times New Roman"/>
                <a:cs typeface="Times New Roman"/>
                <a:sym typeface="Times New Roman"/>
              </a:rPr>
              <a:t>Department: </a:t>
            </a:r>
            <a:endParaRPr sz="1300" dirty="0">
              <a:solidFill>
                <a:schemeClr val="dk1"/>
              </a:solidFill>
              <a:latin typeface="Calibri"/>
              <a:ea typeface="Calibri"/>
              <a:cs typeface="Calibri"/>
              <a:sym typeface="Calibri"/>
            </a:endParaRPr>
          </a:p>
          <a:p>
            <a:pPr marL="0" lvl="0" indent="0" algn="l" rtl="0">
              <a:spcBef>
                <a:spcPts val="0"/>
              </a:spcBef>
              <a:spcAft>
                <a:spcPts val="0"/>
              </a:spcAft>
              <a:buClr>
                <a:srgbClr val="F0E6D3"/>
              </a:buClr>
              <a:buSzPts val="1300"/>
              <a:buFont typeface="Times New Roman"/>
              <a:buNone/>
            </a:pPr>
            <a:r>
              <a:rPr lang="en-US" sz="1300" dirty="0">
                <a:solidFill>
                  <a:srgbClr val="F0E6D3"/>
                </a:solidFill>
                <a:latin typeface="Times New Roman"/>
                <a:ea typeface="Times New Roman"/>
                <a:cs typeface="Times New Roman"/>
                <a:sym typeface="Times New Roman"/>
              </a:rPr>
              <a:t>Electrical Engineering</a:t>
            </a:r>
            <a:endParaRPr sz="13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300"/>
              <a:buFont typeface="Calibri"/>
              <a:buNone/>
            </a:pPr>
            <a:endParaRPr sz="1300" dirty="0">
              <a:solidFill>
                <a:schemeClr val="dk1"/>
              </a:solidFill>
              <a:latin typeface="Calibri"/>
              <a:ea typeface="Calibri"/>
              <a:cs typeface="Calibri"/>
              <a:sym typeface="Calibri"/>
            </a:endParaRPr>
          </a:p>
          <a:p>
            <a:pPr marL="0" lvl="0" indent="0" algn="l" rtl="0">
              <a:spcBef>
                <a:spcPts val="0"/>
              </a:spcBef>
              <a:spcAft>
                <a:spcPts val="0"/>
              </a:spcAft>
              <a:buClr>
                <a:srgbClr val="C4956A"/>
              </a:buClr>
              <a:buSzPts val="1300"/>
              <a:buFont typeface="Times New Roman"/>
              <a:buNone/>
            </a:pPr>
            <a:r>
              <a:rPr lang="en-US" sz="1300" b="1" dirty="0">
                <a:solidFill>
                  <a:srgbClr val="C4956A"/>
                </a:solidFill>
                <a:latin typeface="Times New Roman"/>
                <a:ea typeface="Times New Roman"/>
                <a:cs typeface="Times New Roman"/>
                <a:sym typeface="Times New Roman"/>
              </a:rPr>
              <a:t>Supervisor: </a:t>
            </a:r>
            <a:endParaRPr sz="1300" dirty="0">
              <a:solidFill>
                <a:schemeClr val="dk1"/>
              </a:solidFill>
              <a:latin typeface="Calibri"/>
              <a:ea typeface="Calibri"/>
              <a:cs typeface="Calibri"/>
              <a:sym typeface="Calibri"/>
            </a:endParaRPr>
          </a:p>
          <a:p>
            <a:pPr marL="0" lvl="0" indent="0" algn="l" rtl="0">
              <a:spcBef>
                <a:spcPts val="0"/>
              </a:spcBef>
              <a:spcAft>
                <a:spcPts val="0"/>
              </a:spcAft>
              <a:buClr>
                <a:srgbClr val="F0E6D3"/>
              </a:buClr>
              <a:buSzPts val="1300"/>
              <a:buFont typeface="Times New Roman"/>
              <a:buNone/>
            </a:pPr>
            <a:r>
              <a:rPr lang="en-US" sz="1300" dirty="0">
                <a:solidFill>
                  <a:srgbClr val="F0E6D3"/>
                </a:solidFill>
                <a:latin typeface="Times New Roman"/>
                <a:ea typeface="Times New Roman"/>
                <a:cs typeface="Times New Roman"/>
                <a:sym typeface="Times New Roman"/>
              </a:rPr>
              <a:t>Dr. Anmol Saxena</a:t>
            </a:r>
            <a:endParaRPr sz="1300" dirty="0">
              <a:solidFill>
                <a:schemeClr val="dk1"/>
              </a:solidFill>
              <a:latin typeface="Calibri"/>
              <a:ea typeface="Calibri"/>
              <a:cs typeface="Calibri"/>
              <a:sym typeface="Calibri"/>
            </a:endParaRPr>
          </a:p>
        </p:txBody>
      </p:sp>
      <p:pic>
        <p:nvPicPr>
          <p:cNvPr id="30" name="Google Shape;30;p3"/>
          <p:cNvPicPr preferRelativeResize="0"/>
          <p:nvPr/>
        </p:nvPicPr>
        <p:blipFill>
          <a:blip r:embed="rId6">
            <a:alphaModFix/>
          </a:blip>
          <a:stretch>
            <a:fillRect/>
          </a:stretch>
        </p:blipFill>
        <p:spPr>
          <a:xfrm>
            <a:off x="4043173" y="286325"/>
            <a:ext cx="901875" cy="777850"/>
          </a:xfrm>
          <a:prstGeom prst="rect">
            <a:avLst/>
          </a:prstGeom>
          <a:noFill/>
          <a:ln>
            <a:noFill/>
          </a:ln>
        </p:spPr>
      </p:pic>
      <p:sp>
        <p:nvSpPr>
          <p:cNvPr id="31" name="Google Shape;31;p3"/>
          <p:cNvSpPr/>
          <p:nvPr/>
        </p:nvSpPr>
        <p:spPr>
          <a:xfrm>
            <a:off x="1986725" y="1489712"/>
            <a:ext cx="5225400" cy="198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extBox 1">
            <a:extLst>
              <a:ext uri="{FF2B5EF4-FFF2-40B4-BE49-F238E27FC236}">
                <a16:creationId xmlns:a16="http://schemas.microsoft.com/office/drawing/2014/main" id="{97DBEB80-DD29-D9C7-3E8B-9BC141FF7389}"/>
              </a:ext>
            </a:extLst>
          </p:cNvPr>
          <p:cNvSpPr txBox="1"/>
          <p:nvPr/>
        </p:nvSpPr>
        <p:spPr>
          <a:xfrm>
            <a:off x="7212125" y="4679603"/>
            <a:ext cx="1789473" cy="461665"/>
          </a:xfrm>
          <a:prstGeom prst="rect">
            <a:avLst/>
          </a:prstGeom>
          <a:noFill/>
        </p:spPr>
        <p:txBody>
          <a:bodyPr wrap="square" rtlCol="0">
            <a:spAutoFit/>
          </a:bodyPr>
          <a:lstStyle/>
          <a:p>
            <a:r>
              <a:rPr lang="en-IN" sz="1200" dirty="0">
                <a:solidFill>
                  <a:schemeClr val="bg1"/>
                </a:solidFill>
                <a:latin typeface="Times New Roman" panose="02020603050405020304" pitchFamily="18" charset="0"/>
                <a:cs typeface="Times New Roman" panose="02020603050405020304" pitchFamily="18" charset="0"/>
              </a:rPr>
              <a:t>Date – 11</a:t>
            </a:r>
            <a:r>
              <a:rPr lang="en-IN" sz="1200" baseline="30000" dirty="0">
                <a:solidFill>
                  <a:schemeClr val="bg1"/>
                </a:solidFill>
                <a:latin typeface="Times New Roman" panose="02020603050405020304" pitchFamily="18" charset="0"/>
                <a:cs typeface="Times New Roman" panose="02020603050405020304" pitchFamily="18" charset="0"/>
              </a:rPr>
              <a:t>th</a:t>
            </a:r>
            <a:r>
              <a:rPr lang="en-IN" sz="1200" dirty="0">
                <a:solidFill>
                  <a:schemeClr val="bg1"/>
                </a:solidFill>
                <a:latin typeface="Times New Roman" panose="02020603050405020304" pitchFamily="18" charset="0"/>
                <a:cs typeface="Times New Roman" panose="02020603050405020304" pitchFamily="18" charset="0"/>
              </a:rPr>
              <a:t> May 2026</a:t>
            </a:r>
          </a:p>
          <a:p>
            <a:endParaRPr lang="en-IN" sz="12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36"/>
        <p:cNvGrpSpPr/>
        <p:nvPr/>
      </p:nvGrpSpPr>
      <p:grpSpPr>
        <a:xfrm>
          <a:off x="0" y="0"/>
          <a:ext cx="0" cy="0"/>
          <a:chOff x="0" y="0"/>
          <a:chExt cx="0" cy="0"/>
        </a:xfrm>
      </p:grpSpPr>
      <p:sp>
        <p:nvSpPr>
          <p:cNvPr id="37" name="Google Shape;37;p4"/>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200" b="1">
              <a:solidFill>
                <a:srgbClr val="C4956A"/>
              </a:solidFill>
              <a:latin typeface="Georgia"/>
              <a:ea typeface="Georgia"/>
              <a:cs typeface="Georgia"/>
              <a:sym typeface="Georgia"/>
            </a:endParaRPr>
          </a:p>
        </p:txBody>
      </p:sp>
      <p:sp>
        <p:nvSpPr>
          <p:cNvPr id="38" name="Google Shape;38;p4"/>
          <p:cNvSpPr txBox="1"/>
          <p:nvPr/>
        </p:nvSpPr>
        <p:spPr>
          <a:xfrm>
            <a:off x="2856150" y="162600"/>
            <a:ext cx="36669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200" b="1">
                <a:solidFill>
                  <a:srgbClr val="C4956A"/>
                </a:solidFill>
                <a:latin typeface="Georgia"/>
                <a:ea typeface="Georgia"/>
                <a:cs typeface="Georgia"/>
                <a:sym typeface="Georgia"/>
              </a:rPr>
              <a:t>TABLE OF CONTENTS </a:t>
            </a:r>
            <a:endParaRPr sz="2200" b="1">
              <a:solidFill>
                <a:srgbClr val="C4956A"/>
              </a:solidFill>
              <a:latin typeface="Georgia"/>
              <a:ea typeface="Georgia"/>
              <a:cs typeface="Georgia"/>
              <a:sym typeface="Georgia"/>
            </a:endParaRPr>
          </a:p>
        </p:txBody>
      </p:sp>
      <p:graphicFrame>
        <p:nvGraphicFramePr>
          <p:cNvPr id="39" name="Google Shape;39;p4"/>
          <p:cNvGraphicFramePr/>
          <p:nvPr/>
        </p:nvGraphicFramePr>
        <p:xfrm>
          <a:off x="952500" y="1047750"/>
          <a:ext cx="7239000" cy="3169680"/>
        </p:xfrm>
        <a:graphic>
          <a:graphicData uri="http://schemas.openxmlformats.org/drawingml/2006/table">
            <a:tbl>
              <a:tblPr>
                <a:noFill/>
                <a:tableStyleId>{072E969C-8C7A-468B-871F-488E3D17388E}</a:tableStyleId>
              </a:tblPr>
              <a:tblGrid>
                <a:gridCol w="920675">
                  <a:extLst>
                    <a:ext uri="{9D8B030D-6E8A-4147-A177-3AD203B41FA5}">
                      <a16:colId xmlns:a16="http://schemas.microsoft.com/office/drawing/2014/main" val="20000"/>
                    </a:ext>
                  </a:extLst>
                </a:gridCol>
                <a:gridCol w="63183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US"/>
                        <a:t>Sr. no. </a:t>
                      </a: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Content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81000">
                <a:tc>
                  <a:txBody>
                    <a:bodyPr/>
                    <a:lstStyle/>
                    <a:p>
                      <a:pPr marL="457200" lvl="0" indent="-317500" algn="l" rtl="0">
                        <a:spcBef>
                          <a:spcPts val="0"/>
                        </a:spcBef>
                        <a:spcAft>
                          <a:spcPts val="0"/>
                        </a:spcAft>
                        <a:buSzPts val="1400"/>
                        <a:buAutoNum type="arabicPeriod"/>
                      </a:pP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Introduction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a:t>  2. </a:t>
                      </a: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a:t>  3. </a:t>
                      </a: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Hardware and Software Used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a:t>  4.</a:t>
                      </a: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Algorithms and techniques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a:t>  5. </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Methodology</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US"/>
                        <a:t>  6. </a:t>
                      </a:r>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Proposed System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r>
                        <a:rPr lang="en-US"/>
                        <a:t>  7. </a:t>
                      </a:r>
                      <a:endParaRPr/>
                    </a:p>
                  </a:txBody>
                  <a:tcPr marL="91425" marR="91425" marT="91425" marB="91425"/>
                </a:tc>
                <a:tc>
                  <a:txBody>
                    <a:bodyPr/>
                    <a:lstStyle/>
                    <a:p>
                      <a:pPr marL="0" lvl="0" indent="0" algn="l" rtl="0">
                        <a:spcBef>
                          <a:spcPts val="0"/>
                        </a:spcBef>
                        <a:spcAft>
                          <a:spcPts val="0"/>
                        </a:spcAft>
                        <a:buNone/>
                      </a:pPr>
                      <a:r>
                        <a:rPr lang="en-US">
                          <a:latin typeface="Times New Roman"/>
                          <a:ea typeface="Times New Roman"/>
                          <a:cs typeface="Times New Roman"/>
                          <a:sym typeface="Times New Roman"/>
                        </a:rPr>
                        <a:t>References </a:t>
                      </a:r>
                      <a:endParaRPr>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44"/>
        <p:cNvGrpSpPr/>
        <p:nvPr/>
      </p:nvGrpSpPr>
      <p:grpSpPr>
        <a:xfrm>
          <a:off x="0" y="0"/>
          <a:ext cx="0" cy="0"/>
          <a:chOff x="0" y="0"/>
          <a:chExt cx="0" cy="0"/>
        </a:xfrm>
      </p:grpSpPr>
      <p:sp>
        <p:nvSpPr>
          <p:cNvPr id="45" name="Google Shape;45;p5"/>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INTRODUCTION</a:t>
            </a:r>
            <a:endParaRPr sz="2200" b="0" i="0" u="none" strike="noStrike" cap="none">
              <a:solidFill>
                <a:schemeClr val="dk1"/>
              </a:solidFill>
              <a:latin typeface="Calibri"/>
              <a:ea typeface="Calibri"/>
              <a:cs typeface="Calibri"/>
              <a:sym typeface="Calibri"/>
            </a:endParaRPr>
          </a:p>
        </p:txBody>
      </p:sp>
      <p:sp>
        <p:nvSpPr>
          <p:cNvPr id="47" name="Google Shape;47;p5"/>
          <p:cNvSpPr/>
          <p:nvPr/>
        </p:nvSpPr>
        <p:spPr>
          <a:xfrm>
            <a:off x="5852160" y="2898648"/>
            <a:ext cx="283464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100"/>
              <a:buFont typeface="Times New Roman"/>
              <a:buNone/>
            </a:pPr>
            <a:r>
              <a:rPr lang="en-US" sz="1100" b="0" i="0" u="none" strike="noStrike" cap="none">
                <a:solidFill>
                  <a:srgbClr val="F0E6D3"/>
                </a:solidFill>
                <a:latin typeface="Times New Roman"/>
                <a:ea typeface="Times New Roman"/>
                <a:cs typeface="Times New Roman"/>
                <a:sym typeface="Times New Roman"/>
              </a:rPr>
              <a:t>More demand for charging points</a:t>
            </a:r>
            <a:endParaRPr sz="1100" b="0" i="0" u="none" strike="noStrike" cap="none">
              <a:solidFill>
                <a:schemeClr val="dk1"/>
              </a:solidFill>
              <a:latin typeface="Calibri"/>
              <a:ea typeface="Calibri"/>
              <a:cs typeface="Calibri"/>
              <a:sym typeface="Calibri"/>
            </a:endParaRPr>
          </a:p>
        </p:txBody>
      </p:sp>
      <p:sp>
        <p:nvSpPr>
          <p:cNvPr id="48" name="Google Shape;48;p5"/>
          <p:cNvSpPr/>
          <p:nvPr/>
        </p:nvSpPr>
        <p:spPr>
          <a:xfrm>
            <a:off x="5760720" y="3657600"/>
            <a:ext cx="301752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3800"/>
              <a:buFont typeface="Georgia"/>
              <a:buNone/>
            </a:pPr>
            <a:endParaRPr sz="3800" b="0" i="0" u="none" strike="noStrike" cap="none">
              <a:solidFill>
                <a:schemeClr val="dk1"/>
              </a:solidFill>
              <a:latin typeface="Calibri"/>
              <a:ea typeface="Calibri"/>
              <a:cs typeface="Calibri"/>
              <a:sym typeface="Calibri"/>
            </a:endParaRPr>
          </a:p>
        </p:txBody>
      </p:sp>
      <p:sp>
        <p:nvSpPr>
          <p:cNvPr id="49" name="Google Shape;49;p5"/>
          <p:cNvSpPr/>
          <p:nvPr/>
        </p:nvSpPr>
        <p:spPr>
          <a:xfrm>
            <a:off x="5852160" y="4270248"/>
            <a:ext cx="2834640" cy="4114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100"/>
              <a:buFont typeface="Times New Roman"/>
              <a:buNone/>
            </a:pPr>
            <a:r>
              <a:rPr lang="en-US" sz="1100" b="0" i="0" u="none" strike="noStrike" cap="none">
                <a:solidFill>
                  <a:srgbClr val="F0E6D3"/>
                </a:solidFill>
                <a:latin typeface="Times New Roman"/>
                <a:ea typeface="Times New Roman"/>
                <a:cs typeface="Times New Roman"/>
                <a:sym typeface="Times New Roman"/>
              </a:rPr>
              <a:t>Parking time wasted in cities</a:t>
            </a:r>
            <a:endParaRPr sz="1100" b="0" i="0" u="none" strike="noStrike" cap="none">
              <a:solidFill>
                <a:schemeClr val="dk1"/>
              </a:solidFill>
              <a:latin typeface="Calibri"/>
              <a:ea typeface="Calibri"/>
              <a:cs typeface="Calibri"/>
              <a:sym typeface="Calibri"/>
            </a:endParaRPr>
          </a:p>
        </p:txBody>
      </p:sp>
      <p:sp>
        <p:nvSpPr>
          <p:cNvPr id="50" name="Google Shape;50;p5"/>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txBox="1"/>
          <p:nvPr/>
        </p:nvSpPr>
        <p:spPr>
          <a:xfrm>
            <a:off x="395650" y="1050525"/>
            <a:ext cx="7858500" cy="3092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solidFill>
                  <a:srgbClr val="1B2A4A"/>
                </a:solidFill>
                <a:latin typeface="Times New Roman"/>
                <a:ea typeface="Times New Roman"/>
                <a:cs typeface="Times New Roman"/>
                <a:sym typeface="Times New Roman"/>
              </a:rPr>
              <a:t>The rapid growth of electric vehicles has increased the demand for smarter parking and charging solutions. Conventional parking systems are time-consuming and lack features such as real-time slot monitoring, automated charging control, and secure access management.</a:t>
            </a:r>
            <a:endParaRPr>
              <a:solidFill>
                <a:srgbClr val="1B2A4A"/>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a:solidFill>
                  <a:srgbClr val="1B2A4A"/>
                </a:solidFill>
                <a:latin typeface="Times New Roman"/>
                <a:ea typeface="Times New Roman"/>
                <a:cs typeface="Times New Roman"/>
                <a:sym typeface="Times New Roman"/>
              </a:rPr>
              <a:t>This project presents an RFID Enabled Smart EV Parking and Charging System using ESP32. The system uses RFID authentication for vehicle entry, IR sensors for slot detection, and a relay module for charging control. A Wi-Fi-based web dashboard provides live updates of slot availability, charging status, battery percentage, and temperature monitoring for both users and operators.</a:t>
            </a:r>
            <a:endParaRPr>
              <a:solidFill>
                <a:srgbClr val="1B2A4A"/>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ts val="1100"/>
              <a:buFont typeface="Arial"/>
              <a:buNone/>
            </a:pPr>
            <a:r>
              <a:rPr lang="en-US">
                <a:solidFill>
                  <a:srgbClr val="1B2A4A"/>
                </a:solidFill>
                <a:latin typeface="Times New Roman"/>
                <a:ea typeface="Times New Roman"/>
                <a:cs typeface="Times New Roman"/>
                <a:sym typeface="Times New Roman"/>
              </a:rPr>
              <a:t>The project combines embedded systems and IoT technology to create an efficient, low-cost, and scalable smart EV parking solution.</a:t>
            </a:r>
            <a:endParaRPr>
              <a:solidFill>
                <a:srgbClr val="1B2A4A"/>
              </a:solidFill>
              <a:latin typeface="Times New Roman"/>
              <a:ea typeface="Times New Roman"/>
              <a:cs typeface="Times New Roman"/>
              <a:sym typeface="Times New Roman"/>
            </a:endParaRPr>
          </a:p>
          <a:p>
            <a:pPr marL="0" lvl="0" indent="0" algn="l" rtl="0">
              <a:spcBef>
                <a:spcPts val="1200"/>
              </a:spcBef>
              <a:spcAft>
                <a:spcPts val="0"/>
              </a:spcAft>
              <a:buNone/>
            </a:pPr>
            <a:endParaRPr>
              <a:solidFill>
                <a:srgbClr val="1B2A4A"/>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56"/>
        <p:cNvGrpSpPr/>
        <p:nvPr/>
      </p:nvGrpSpPr>
      <p:grpSpPr>
        <a:xfrm>
          <a:off x="0" y="0"/>
          <a:ext cx="0" cy="0"/>
          <a:chOff x="0" y="0"/>
          <a:chExt cx="0" cy="0"/>
        </a:xfrm>
      </p:grpSpPr>
      <p:sp>
        <p:nvSpPr>
          <p:cNvPr id="57" name="Google Shape;57;p6"/>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6"/>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PROBLEM STATEMENT</a:t>
            </a:r>
            <a:endParaRPr sz="2200" b="0" i="0" u="none" strike="noStrike" cap="none">
              <a:solidFill>
                <a:schemeClr val="dk1"/>
              </a:solidFill>
              <a:latin typeface="Calibri"/>
              <a:ea typeface="Calibri"/>
              <a:cs typeface="Calibri"/>
              <a:sym typeface="Calibri"/>
            </a:endParaRPr>
          </a:p>
        </p:txBody>
      </p:sp>
      <p:sp>
        <p:nvSpPr>
          <p:cNvPr id="59" name="Google Shape;59;p6"/>
          <p:cNvSpPr/>
          <p:nvPr/>
        </p:nvSpPr>
        <p:spPr>
          <a:xfrm>
            <a:off x="365760" y="868680"/>
            <a:ext cx="4206240" cy="1097280"/>
          </a:xfrm>
          <a:prstGeom prst="rect">
            <a:avLst/>
          </a:prstGeom>
          <a:solidFill>
            <a:srgbClr val="F5EDE0"/>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6"/>
          <p:cNvSpPr/>
          <p:nvPr/>
        </p:nvSpPr>
        <p:spPr>
          <a:xfrm>
            <a:off x="365760" y="868680"/>
            <a:ext cx="502920" cy="109728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6"/>
          <p:cNvSpPr/>
          <p:nvPr/>
        </p:nvSpPr>
        <p:spPr>
          <a:xfrm>
            <a:off x="365760" y="1188720"/>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01</a:t>
            </a:r>
            <a:endParaRPr sz="1500" b="0" i="0" u="none" strike="noStrike" cap="none">
              <a:solidFill>
                <a:schemeClr val="dk1"/>
              </a:solidFill>
              <a:latin typeface="Calibri"/>
              <a:ea typeface="Calibri"/>
              <a:cs typeface="Calibri"/>
              <a:sym typeface="Calibri"/>
            </a:endParaRPr>
          </a:p>
        </p:txBody>
      </p:sp>
      <p:sp>
        <p:nvSpPr>
          <p:cNvPr id="62" name="Google Shape;62;p6"/>
          <p:cNvSpPr/>
          <p:nvPr/>
        </p:nvSpPr>
        <p:spPr>
          <a:xfrm>
            <a:off x="960120" y="960120"/>
            <a:ext cx="34747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Manual Parking</a:t>
            </a:r>
            <a:endParaRPr sz="1300" b="0" i="0" u="none" strike="noStrike" cap="none">
              <a:solidFill>
                <a:schemeClr val="dk1"/>
              </a:solidFill>
              <a:latin typeface="Calibri"/>
              <a:ea typeface="Calibri"/>
              <a:cs typeface="Calibri"/>
              <a:sym typeface="Calibri"/>
            </a:endParaRPr>
          </a:p>
        </p:txBody>
      </p:sp>
      <p:sp>
        <p:nvSpPr>
          <p:cNvPr id="63" name="Google Shape;63;p6"/>
          <p:cNvSpPr/>
          <p:nvPr/>
        </p:nvSpPr>
        <p:spPr>
          <a:xfrm>
            <a:off x="960120" y="1234440"/>
            <a:ext cx="34747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No automated system for slot detection or assignment; relies entirely on human effort.</a:t>
            </a:r>
            <a:endParaRPr sz="1100" b="0" i="0" u="none" strike="noStrike" cap="none">
              <a:solidFill>
                <a:schemeClr val="dk1"/>
              </a:solidFill>
              <a:latin typeface="Calibri"/>
              <a:ea typeface="Calibri"/>
              <a:cs typeface="Calibri"/>
              <a:sym typeface="Calibri"/>
            </a:endParaRPr>
          </a:p>
        </p:txBody>
      </p:sp>
      <p:sp>
        <p:nvSpPr>
          <p:cNvPr id="64" name="Google Shape;64;p6"/>
          <p:cNvSpPr/>
          <p:nvPr/>
        </p:nvSpPr>
        <p:spPr>
          <a:xfrm>
            <a:off x="365760" y="2194560"/>
            <a:ext cx="4206240" cy="1097280"/>
          </a:xfrm>
          <a:prstGeom prst="rect">
            <a:avLst/>
          </a:prstGeom>
          <a:solidFill>
            <a:srgbClr val="F5EDE0"/>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365760" y="2194560"/>
            <a:ext cx="502920" cy="109728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65760" y="2514600"/>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02</a:t>
            </a:r>
            <a:endParaRPr sz="1500" b="0" i="0" u="none" strike="noStrike" cap="none">
              <a:solidFill>
                <a:schemeClr val="dk1"/>
              </a:solidFill>
              <a:latin typeface="Calibri"/>
              <a:ea typeface="Calibri"/>
              <a:cs typeface="Calibri"/>
              <a:sym typeface="Calibri"/>
            </a:endParaRPr>
          </a:p>
        </p:txBody>
      </p:sp>
      <p:sp>
        <p:nvSpPr>
          <p:cNvPr id="67" name="Google Shape;67;p6"/>
          <p:cNvSpPr/>
          <p:nvPr/>
        </p:nvSpPr>
        <p:spPr>
          <a:xfrm>
            <a:off x="960120" y="2286000"/>
            <a:ext cx="34747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Time Wastage</a:t>
            </a:r>
            <a:endParaRPr sz="1300" b="0" i="0" u="none" strike="noStrike" cap="none">
              <a:solidFill>
                <a:schemeClr val="dk1"/>
              </a:solidFill>
              <a:latin typeface="Calibri"/>
              <a:ea typeface="Calibri"/>
              <a:cs typeface="Calibri"/>
              <a:sym typeface="Calibri"/>
            </a:endParaRPr>
          </a:p>
        </p:txBody>
      </p:sp>
      <p:sp>
        <p:nvSpPr>
          <p:cNvPr id="68" name="Google Shape;68;p6"/>
          <p:cNvSpPr/>
          <p:nvPr/>
        </p:nvSpPr>
        <p:spPr>
          <a:xfrm>
            <a:off x="960120" y="2560320"/>
            <a:ext cx="34747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Drivers spend excessive time searching for available parking slots.</a:t>
            </a:r>
            <a:endParaRPr sz="1100" b="0" i="0" u="none" strike="noStrike" cap="none">
              <a:solidFill>
                <a:schemeClr val="dk1"/>
              </a:solidFill>
              <a:latin typeface="Calibri"/>
              <a:ea typeface="Calibri"/>
              <a:cs typeface="Calibri"/>
              <a:sym typeface="Calibri"/>
            </a:endParaRPr>
          </a:p>
        </p:txBody>
      </p:sp>
      <p:sp>
        <p:nvSpPr>
          <p:cNvPr id="69" name="Google Shape;69;p6"/>
          <p:cNvSpPr/>
          <p:nvPr/>
        </p:nvSpPr>
        <p:spPr>
          <a:xfrm>
            <a:off x="365760" y="3520440"/>
            <a:ext cx="4206240" cy="1097280"/>
          </a:xfrm>
          <a:prstGeom prst="rect">
            <a:avLst/>
          </a:prstGeom>
          <a:solidFill>
            <a:srgbClr val="F5EDE0"/>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365760" y="3520440"/>
            <a:ext cx="502920" cy="109728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6"/>
          <p:cNvSpPr/>
          <p:nvPr/>
        </p:nvSpPr>
        <p:spPr>
          <a:xfrm>
            <a:off x="365760" y="3840480"/>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03</a:t>
            </a:r>
            <a:endParaRPr sz="1500" b="0" i="0" u="none" strike="noStrike" cap="none">
              <a:solidFill>
                <a:schemeClr val="dk1"/>
              </a:solidFill>
              <a:latin typeface="Calibri"/>
              <a:ea typeface="Calibri"/>
              <a:cs typeface="Calibri"/>
              <a:sym typeface="Calibri"/>
            </a:endParaRPr>
          </a:p>
        </p:txBody>
      </p:sp>
      <p:sp>
        <p:nvSpPr>
          <p:cNvPr id="72" name="Google Shape;72;p6"/>
          <p:cNvSpPr/>
          <p:nvPr/>
        </p:nvSpPr>
        <p:spPr>
          <a:xfrm>
            <a:off x="960120" y="3611880"/>
            <a:ext cx="34747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No Charging Management</a:t>
            </a:r>
            <a:endParaRPr sz="1300" b="0" i="0" u="none" strike="noStrike" cap="none">
              <a:solidFill>
                <a:schemeClr val="dk1"/>
              </a:solidFill>
              <a:latin typeface="Calibri"/>
              <a:ea typeface="Calibri"/>
              <a:cs typeface="Calibri"/>
              <a:sym typeface="Calibri"/>
            </a:endParaRPr>
          </a:p>
        </p:txBody>
      </p:sp>
      <p:sp>
        <p:nvSpPr>
          <p:cNvPr id="73" name="Google Shape;73;p6"/>
          <p:cNvSpPr/>
          <p:nvPr/>
        </p:nvSpPr>
        <p:spPr>
          <a:xfrm>
            <a:off x="960120" y="3886200"/>
            <a:ext cx="347472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No visibility into charging status, completion time, or energy consumption.</a:t>
            </a:r>
            <a:endParaRPr sz="1100" b="0" i="0" u="none" strike="noStrike" cap="none">
              <a:solidFill>
                <a:schemeClr val="dk1"/>
              </a:solidFill>
              <a:latin typeface="Calibri"/>
              <a:ea typeface="Calibri"/>
              <a:cs typeface="Calibri"/>
              <a:sym typeface="Calibri"/>
            </a:endParaRPr>
          </a:p>
        </p:txBody>
      </p:sp>
      <p:sp>
        <p:nvSpPr>
          <p:cNvPr id="74" name="Google Shape;74;p6"/>
          <p:cNvSpPr/>
          <p:nvPr/>
        </p:nvSpPr>
        <p:spPr>
          <a:xfrm>
            <a:off x="4846320" y="868680"/>
            <a:ext cx="3931920" cy="1097280"/>
          </a:xfrm>
          <a:prstGeom prst="rect">
            <a:avLst/>
          </a:prstGeom>
          <a:solidFill>
            <a:srgbClr val="F5EDE0"/>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6"/>
          <p:cNvSpPr/>
          <p:nvPr/>
        </p:nvSpPr>
        <p:spPr>
          <a:xfrm>
            <a:off x="4846320" y="868680"/>
            <a:ext cx="502920" cy="109728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4846320" y="1188720"/>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04</a:t>
            </a:r>
            <a:endParaRPr sz="1500" b="0" i="0" u="none" strike="noStrike" cap="none">
              <a:solidFill>
                <a:schemeClr val="dk1"/>
              </a:solidFill>
              <a:latin typeface="Calibri"/>
              <a:ea typeface="Calibri"/>
              <a:cs typeface="Calibri"/>
              <a:sym typeface="Calibri"/>
            </a:endParaRPr>
          </a:p>
        </p:txBody>
      </p:sp>
      <p:sp>
        <p:nvSpPr>
          <p:cNvPr id="77" name="Google Shape;77;p6"/>
          <p:cNvSpPr/>
          <p:nvPr/>
        </p:nvSpPr>
        <p:spPr>
          <a:xfrm>
            <a:off x="5440680" y="960120"/>
            <a:ext cx="3200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No Real-Time Monitoring</a:t>
            </a:r>
            <a:endParaRPr sz="1300" b="0" i="0" u="none" strike="noStrike" cap="none">
              <a:solidFill>
                <a:schemeClr val="dk1"/>
              </a:solidFill>
              <a:latin typeface="Calibri"/>
              <a:ea typeface="Calibri"/>
              <a:cs typeface="Calibri"/>
              <a:sym typeface="Calibri"/>
            </a:endParaRPr>
          </a:p>
        </p:txBody>
      </p:sp>
      <p:sp>
        <p:nvSpPr>
          <p:cNvPr id="78" name="Google Shape;78;p6"/>
          <p:cNvSpPr/>
          <p:nvPr/>
        </p:nvSpPr>
        <p:spPr>
          <a:xfrm>
            <a:off x="5440680" y="1234440"/>
            <a:ext cx="32004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Absence of any dashboard to monitor slot occupancy or charging progress remotely.</a:t>
            </a:r>
            <a:endParaRPr sz="1100" b="0" i="0" u="none" strike="noStrike" cap="none">
              <a:solidFill>
                <a:schemeClr val="dk1"/>
              </a:solidFill>
              <a:latin typeface="Calibri"/>
              <a:ea typeface="Calibri"/>
              <a:cs typeface="Calibri"/>
              <a:sym typeface="Calibri"/>
            </a:endParaRPr>
          </a:p>
        </p:txBody>
      </p:sp>
      <p:sp>
        <p:nvSpPr>
          <p:cNvPr id="79" name="Google Shape;79;p6"/>
          <p:cNvSpPr/>
          <p:nvPr/>
        </p:nvSpPr>
        <p:spPr>
          <a:xfrm>
            <a:off x="4846320" y="2194560"/>
            <a:ext cx="3931920" cy="1097280"/>
          </a:xfrm>
          <a:prstGeom prst="rect">
            <a:avLst/>
          </a:prstGeom>
          <a:solidFill>
            <a:srgbClr val="F5EDE0"/>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4846320" y="2194560"/>
            <a:ext cx="502920" cy="109728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a:off x="4846320" y="2514600"/>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Georgia"/>
              <a:buNone/>
            </a:pPr>
            <a:r>
              <a:rPr lang="en-US" sz="1500" b="1" i="0" u="none" strike="noStrike" cap="none">
                <a:solidFill>
                  <a:srgbClr val="FFFFFF"/>
                </a:solidFill>
                <a:latin typeface="Georgia"/>
                <a:ea typeface="Georgia"/>
                <a:cs typeface="Georgia"/>
                <a:sym typeface="Georgia"/>
              </a:rPr>
              <a:t>05</a:t>
            </a:r>
            <a:endParaRPr sz="1500" b="0" i="0" u="none" strike="noStrike" cap="none">
              <a:solidFill>
                <a:schemeClr val="dk1"/>
              </a:solidFill>
              <a:latin typeface="Calibri"/>
              <a:ea typeface="Calibri"/>
              <a:cs typeface="Calibri"/>
              <a:sym typeface="Calibri"/>
            </a:endParaRPr>
          </a:p>
        </p:txBody>
      </p:sp>
      <p:sp>
        <p:nvSpPr>
          <p:cNvPr id="82" name="Google Shape;82;p6"/>
          <p:cNvSpPr/>
          <p:nvPr/>
        </p:nvSpPr>
        <p:spPr>
          <a:xfrm>
            <a:off x="5440680" y="2286000"/>
            <a:ext cx="3200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Security Concerns</a:t>
            </a:r>
            <a:endParaRPr sz="1300" b="0" i="0" u="none" strike="noStrike" cap="none">
              <a:solidFill>
                <a:schemeClr val="dk1"/>
              </a:solidFill>
              <a:latin typeface="Calibri"/>
              <a:ea typeface="Calibri"/>
              <a:cs typeface="Calibri"/>
              <a:sym typeface="Calibri"/>
            </a:endParaRPr>
          </a:p>
        </p:txBody>
      </p:sp>
      <p:sp>
        <p:nvSpPr>
          <p:cNvPr id="83" name="Google Shape;83;p6"/>
          <p:cNvSpPr/>
          <p:nvPr/>
        </p:nvSpPr>
        <p:spPr>
          <a:xfrm>
            <a:off x="5440680" y="2560320"/>
            <a:ext cx="3200400" cy="685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Unauthorized access to parking areas and charging stations is uncontrolled.</a:t>
            </a:r>
            <a:endParaRPr sz="1100" b="0" i="0" u="none" strike="noStrike" cap="none">
              <a:solidFill>
                <a:schemeClr val="dk1"/>
              </a:solidFill>
              <a:latin typeface="Calibri"/>
              <a:ea typeface="Calibri"/>
              <a:cs typeface="Calibri"/>
              <a:sym typeface="Calibri"/>
            </a:endParaRPr>
          </a:p>
        </p:txBody>
      </p:sp>
      <p:sp>
        <p:nvSpPr>
          <p:cNvPr id="84" name="Google Shape;84;p6"/>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89"/>
        <p:cNvGrpSpPr/>
        <p:nvPr/>
      </p:nvGrpSpPr>
      <p:grpSpPr>
        <a:xfrm>
          <a:off x="0" y="0"/>
          <a:ext cx="0" cy="0"/>
          <a:chOff x="0" y="0"/>
          <a:chExt cx="0" cy="0"/>
        </a:xfrm>
      </p:grpSpPr>
      <p:sp>
        <p:nvSpPr>
          <p:cNvPr id="90" name="Google Shape;90;p7"/>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OBJECTIVES</a:t>
            </a:r>
            <a:endParaRPr sz="2200" b="0" i="0" u="none" strike="noStrike" cap="none">
              <a:solidFill>
                <a:schemeClr val="dk1"/>
              </a:solidFill>
              <a:latin typeface="Calibri"/>
              <a:ea typeface="Calibri"/>
              <a:cs typeface="Calibri"/>
              <a:sym typeface="Calibri"/>
            </a:endParaRPr>
          </a:p>
        </p:txBody>
      </p:sp>
      <p:sp>
        <p:nvSpPr>
          <p:cNvPr id="92" name="Google Shape;92;p7"/>
          <p:cNvSpPr/>
          <p:nvPr/>
        </p:nvSpPr>
        <p:spPr>
          <a:xfrm>
            <a:off x="365760" y="8686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365760" y="8686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502920" y="9784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01  Smart Parking Allocation</a:t>
            </a:r>
            <a:endParaRPr sz="1300" b="0" i="0" u="none" strike="noStrike" cap="none">
              <a:solidFill>
                <a:schemeClr val="dk1"/>
              </a:solidFill>
              <a:latin typeface="Calibri"/>
              <a:ea typeface="Calibri"/>
              <a:cs typeface="Calibri"/>
              <a:sym typeface="Calibri"/>
            </a:endParaRPr>
          </a:p>
        </p:txBody>
      </p:sp>
      <p:sp>
        <p:nvSpPr>
          <p:cNvPr id="95" name="Google Shape;95;p7"/>
          <p:cNvSpPr/>
          <p:nvPr/>
        </p:nvSpPr>
        <p:spPr>
          <a:xfrm>
            <a:off x="502920" y="13075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Automatically detect and assign available slots using IR sensors.</a:t>
            </a:r>
            <a:endParaRPr sz="1200" b="0" i="0" u="none" strike="noStrike" cap="none">
              <a:solidFill>
                <a:schemeClr val="dk1"/>
              </a:solidFill>
              <a:latin typeface="Calibri"/>
              <a:ea typeface="Calibri"/>
              <a:cs typeface="Calibri"/>
              <a:sym typeface="Calibri"/>
            </a:endParaRPr>
          </a:p>
        </p:txBody>
      </p:sp>
      <p:sp>
        <p:nvSpPr>
          <p:cNvPr id="96" name="Google Shape;96;p7"/>
          <p:cNvSpPr/>
          <p:nvPr/>
        </p:nvSpPr>
        <p:spPr>
          <a:xfrm>
            <a:off x="4846320" y="8686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a:off x="4846320" y="8686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a:off x="4983480" y="9784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02  RFID Authentication</a:t>
            </a:r>
            <a:endParaRPr sz="1300" b="0" i="0" u="none" strike="noStrike" cap="none">
              <a:solidFill>
                <a:schemeClr val="dk1"/>
              </a:solidFill>
              <a:latin typeface="Calibri"/>
              <a:ea typeface="Calibri"/>
              <a:cs typeface="Calibri"/>
              <a:sym typeface="Calibri"/>
            </a:endParaRPr>
          </a:p>
        </p:txBody>
      </p:sp>
      <p:sp>
        <p:nvSpPr>
          <p:cNvPr id="99" name="Google Shape;99;p7"/>
          <p:cNvSpPr/>
          <p:nvPr/>
        </p:nvSpPr>
        <p:spPr>
          <a:xfrm>
            <a:off x="4983480" y="13075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Secure entry gate control using RFID card verification via ESP32.</a:t>
            </a:r>
            <a:endParaRPr sz="1200" b="0" i="0" u="none" strike="noStrike" cap="none">
              <a:solidFill>
                <a:schemeClr val="dk1"/>
              </a:solidFill>
              <a:latin typeface="Calibri"/>
              <a:ea typeface="Calibri"/>
              <a:cs typeface="Calibri"/>
              <a:sym typeface="Calibri"/>
            </a:endParaRPr>
          </a:p>
        </p:txBody>
      </p:sp>
      <p:sp>
        <p:nvSpPr>
          <p:cNvPr id="100" name="Google Shape;100;p7"/>
          <p:cNvSpPr/>
          <p:nvPr/>
        </p:nvSpPr>
        <p:spPr>
          <a:xfrm>
            <a:off x="365760" y="22402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a:off x="365760" y="22402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7"/>
          <p:cNvSpPr/>
          <p:nvPr/>
        </p:nvSpPr>
        <p:spPr>
          <a:xfrm>
            <a:off x="502920" y="23500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03  Automatic EV Charging</a:t>
            </a:r>
            <a:endParaRPr sz="1300" b="0" i="0" u="none" strike="noStrike" cap="none">
              <a:solidFill>
                <a:schemeClr val="dk1"/>
              </a:solidFill>
              <a:latin typeface="Calibri"/>
              <a:ea typeface="Calibri"/>
              <a:cs typeface="Calibri"/>
              <a:sym typeface="Calibri"/>
            </a:endParaRPr>
          </a:p>
        </p:txBody>
      </p:sp>
      <p:sp>
        <p:nvSpPr>
          <p:cNvPr id="103" name="Google Shape;103;p7"/>
          <p:cNvSpPr/>
          <p:nvPr/>
        </p:nvSpPr>
        <p:spPr>
          <a:xfrm>
            <a:off x="502920" y="26791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Trigger charging relay automatically upon vehicle detection in slot.</a:t>
            </a:r>
            <a:endParaRPr sz="1200" b="0" i="0" u="none" strike="noStrike" cap="none">
              <a:solidFill>
                <a:schemeClr val="dk1"/>
              </a:solidFill>
              <a:latin typeface="Calibri"/>
              <a:ea typeface="Calibri"/>
              <a:cs typeface="Calibri"/>
              <a:sym typeface="Calibri"/>
            </a:endParaRPr>
          </a:p>
        </p:txBody>
      </p:sp>
      <p:sp>
        <p:nvSpPr>
          <p:cNvPr id="104" name="Google Shape;104;p7"/>
          <p:cNvSpPr/>
          <p:nvPr/>
        </p:nvSpPr>
        <p:spPr>
          <a:xfrm>
            <a:off x="4846320" y="22402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a:off x="4846320" y="22402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a:off x="4983480" y="23500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04  Real-Time Monitoring</a:t>
            </a:r>
            <a:endParaRPr sz="1300" b="0" i="0" u="none" strike="noStrike" cap="none">
              <a:solidFill>
                <a:schemeClr val="dk1"/>
              </a:solidFill>
              <a:latin typeface="Calibri"/>
              <a:ea typeface="Calibri"/>
              <a:cs typeface="Calibri"/>
              <a:sym typeface="Calibri"/>
            </a:endParaRPr>
          </a:p>
        </p:txBody>
      </p:sp>
      <p:sp>
        <p:nvSpPr>
          <p:cNvPr id="107" name="Google Shape;107;p7"/>
          <p:cNvSpPr/>
          <p:nvPr/>
        </p:nvSpPr>
        <p:spPr>
          <a:xfrm>
            <a:off x="4983480" y="26791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Web dashboard displaying live slot status and charging progress.</a:t>
            </a:r>
            <a:endParaRPr sz="1200" b="0" i="0" u="none" strike="noStrike" cap="none">
              <a:solidFill>
                <a:schemeClr val="dk1"/>
              </a:solidFill>
              <a:latin typeface="Calibri"/>
              <a:ea typeface="Calibri"/>
              <a:cs typeface="Calibri"/>
              <a:sym typeface="Calibri"/>
            </a:endParaRPr>
          </a:p>
        </p:txBody>
      </p:sp>
      <p:sp>
        <p:nvSpPr>
          <p:cNvPr id="108" name="Google Shape;108;p7"/>
          <p:cNvSpPr/>
          <p:nvPr/>
        </p:nvSpPr>
        <p:spPr>
          <a:xfrm>
            <a:off x="365760" y="36118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a:off x="365760" y="36118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502920" y="37216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05  Temperature Safety</a:t>
            </a:r>
            <a:endParaRPr sz="1300" b="0" i="0" u="none" strike="noStrike" cap="none">
              <a:solidFill>
                <a:schemeClr val="dk1"/>
              </a:solidFill>
              <a:latin typeface="Calibri"/>
              <a:ea typeface="Calibri"/>
              <a:cs typeface="Calibri"/>
              <a:sym typeface="Calibri"/>
            </a:endParaRPr>
          </a:p>
        </p:txBody>
      </p:sp>
      <p:sp>
        <p:nvSpPr>
          <p:cNvPr id="111" name="Google Shape;111;p7"/>
          <p:cNvSpPr/>
          <p:nvPr/>
        </p:nvSpPr>
        <p:spPr>
          <a:xfrm>
            <a:off x="502920" y="40507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DHT11 monitors temperature; charging stops if threshold is exceeded.</a:t>
            </a:r>
            <a:endParaRPr sz="1200" b="0" i="0" u="none" strike="noStrike" cap="none">
              <a:solidFill>
                <a:schemeClr val="dk1"/>
              </a:solidFill>
              <a:latin typeface="Calibri"/>
              <a:ea typeface="Calibri"/>
              <a:cs typeface="Calibri"/>
              <a:sym typeface="Calibri"/>
            </a:endParaRPr>
          </a:p>
        </p:txBody>
      </p:sp>
      <p:sp>
        <p:nvSpPr>
          <p:cNvPr id="112" name="Google Shape;112;p7"/>
          <p:cNvSpPr/>
          <p:nvPr/>
        </p:nvSpPr>
        <p:spPr>
          <a:xfrm>
            <a:off x="4846320" y="3611880"/>
            <a:ext cx="4206240" cy="11430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4846320" y="3611880"/>
            <a:ext cx="4206240" cy="64008"/>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7"/>
          <p:cNvSpPr/>
          <p:nvPr/>
        </p:nvSpPr>
        <p:spPr>
          <a:xfrm>
            <a:off x="4983480" y="3721608"/>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06  Efficient Management</a:t>
            </a:r>
            <a:endParaRPr sz="1300" b="0" i="0" u="none" strike="noStrike" cap="none">
              <a:solidFill>
                <a:schemeClr val="dk1"/>
              </a:solidFill>
              <a:latin typeface="Calibri"/>
              <a:ea typeface="Calibri"/>
              <a:cs typeface="Calibri"/>
              <a:sym typeface="Calibri"/>
            </a:endParaRPr>
          </a:p>
        </p:txBody>
      </p:sp>
      <p:sp>
        <p:nvSpPr>
          <p:cNvPr id="115" name="Google Shape;115;p7"/>
          <p:cNvSpPr/>
          <p:nvPr/>
        </p:nvSpPr>
        <p:spPr>
          <a:xfrm>
            <a:off x="4983480" y="4050792"/>
            <a:ext cx="393192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Reduce manual effort and optimize use of parking and charging resources.</a:t>
            </a:r>
            <a:endParaRPr sz="1200" b="0" i="0" u="none" strike="noStrike" cap="none">
              <a:solidFill>
                <a:schemeClr val="dk1"/>
              </a:solidFill>
              <a:latin typeface="Calibri"/>
              <a:ea typeface="Calibri"/>
              <a:cs typeface="Calibri"/>
              <a:sym typeface="Calibri"/>
            </a:endParaRPr>
          </a:p>
        </p:txBody>
      </p:sp>
      <p:sp>
        <p:nvSpPr>
          <p:cNvPr id="116" name="Google Shape;116;p7"/>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121"/>
        <p:cNvGrpSpPr/>
        <p:nvPr/>
      </p:nvGrpSpPr>
      <p:grpSpPr>
        <a:xfrm>
          <a:off x="0" y="0"/>
          <a:ext cx="0" cy="0"/>
          <a:chOff x="0" y="0"/>
          <a:chExt cx="0" cy="0"/>
        </a:xfrm>
      </p:grpSpPr>
      <p:sp>
        <p:nvSpPr>
          <p:cNvPr id="122" name="Google Shape;122;p8"/>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8"/>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1800"/>
              <a:buFont typeface="Georgia"/>
              <a:buNone/>
            </a:pPr>
            <a:r>
              <a:rPr lang="en-US" sz="1800" b="1" i="0" u="none" strike="noStrike" cap="none">
                <a:solidFill>
                  <a:srgbClr val="C4956A"/>
                </a:solidFill>
                <a:latin typeface="Georgia"/>
                <a:ea typeface="Georgia"/>
                <a:cs typeface="Georgia"/>
                <a:sym typeface="Georgia"/>
              </a:rPr>
              <a:t>LITERATURE SURVEY </a:t>
            </a:r>
            <a:r>
              <a:rPr lang="en-US" sz="1800" b="1">
                <a:solidFill>
                  <a:srgbClr val="C4956A"/>
                </a:solidFill>
                <a:latin typeface="Georgia"/>
                <a:ea typeface="Georgia"/>
                <a:cs typeface="Georgia"/>
                <a:sym typeface="Georgia"/>
              </a:rPr>
              <a:t>- </a:t>
            </a:r>
            <a:r>
              <a:rPr lang="en-US" sz="1800" b="1" i="0" u="none" strike="noStrike" cap="none">
                <a:solidFill>
                  <a:srgbClr val="C4956A"/>
                </a:solidFill>
                <a:latin typeface="Georgia"/>
                <a:ea typeface="Georgia"/>
                <a:cs typeface="Georgia"/>
                <a:sym typeface="Georgia"/>
              </a:rPr>
              <a:t>EXISTING vs PROPOSED SYSTEM</a:t>
            </a:r>
            <a:endParaRPr sz="1800" b="0" i="0" u="none" strike="noStrike" cap="none">
              <a:solidFill>
                <a:schemeClr val="dk1"/>
              </a:solidFill>
              <a:latin typeface="Calibri"/>
              <a:ea typeface="Calibri"/>
              <a:cs typeface="Calibri"/>
              <a:sym typeface="Calibri"/>
            </a:endParaRPr>
          </a:p>
        </p:txBody>
      </p:sp>
      <p:graphicFrame>
        <p:nvGraphicFramePr>
          <p:cNvPr id="124" name="Google Shape;124;p8"/>
          <p:cNvGraphicFramePr/>
          <p:nvPr/>
        </p:nvGraphicFramePr>
        <p:xfrm>
          <a:off x="365760" y="822960"/>
          <a:ext cx="8412475" cy="4023400"/>
        </p:xfrm>
        <a:graphic>
          <a:graphicData uri="http://schemas.openxmlformats.org/drawingml/2006/table">
            <a:tbl>
              <a:tblPr>
                <a:noFill/>
                <a:tableStyleId>{BBF3B2FD-289A-4B1A-A23D-F1847609F2F2}</a:tableStyleId>
              </a:tblPr>
              <a:tblGrid>
                <a:gridCol w="2011675">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3474725">
                  <a:extLst>
                    <a:ext uri="{9D8B030D-6E8A-4147-A177-3AD203B41FA5}">
                      <a16:colId xmlns:a16="http://schemas.microsoft.com/office/drawing/2014/main" val="20002"/>
                    </a:ext>
                  </a:extLst>
                </a:gridCol>
              </a:tblGrid>
              <a:tr h="502925">
                <a:tc>
                  <a:txBody>
                    <a:bodyPr/>
                    <a:lstStyle/>
                    <a:p>
                      <a:pPr marL="0" marR="0" lvl="0" indent="0" algn="ctr"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Parameter</a:t>
                      </a:r>
                      <a:endParaRPr sz="13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3D2B1F"/>
                    </a:solidFill>
                  </a:tcPr>
                </a:tc>
                <a:tc>
                  <a:txBody>
                    <a:bodyPr/>
                    <a:lstStyle/>
                    <a:p>
                      <a:pPr marL="0" marR="0" lvl="0" indent="0" algn="ctr"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Existing System</a:t>
                      </a:r>
                      <a:endParaRPr sz="13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A0714F"/>
                    </a:solidFill>
                  </a:tcPr>
                </a:tc>
                <a:tc>
                  <a:txBody>
                    <a:bodyPr/>
                    <a:lstStyle/>
                    <a:p>
                      <a:pPr marL="0" marR="0" lvl="0" indent="0" algn="ctr" rtl="0">
                        <a:spcBef>
                          <a:spcPts val="0"/>
                        </a:spcBef>
                        <a:spcAft>
                          <a:spcPts val="0"/>
                        </a:spcAft>
                        <a:buClr>
                          <a:srgbClr val="FFFFFF"/>
                        </a:buClr>
                        <a:buSzPts val="1300"/>
                        <a:buFont typeface="Times New Roman"/>
                        <a:buNone/>
                      </a:pPr>
                      <a:r>
                        <a:rPr lang="en-US" sz="1300" b="1" u="none" strike="noStrike" cap="none">
                          <a:solidFill>
                            <a:srgbClr val="FFFFFF"/>
                          </a:solidFill>
                          <a:latin typeface="Times New Roman"/>
                          <a:ea typeface="Times New Roman"/>
                          <a:cs typeface="Times New Roman"/>
                          <a:sym typeface="Times New Roman"/>
                        </a:rPr>
                        <a:t>Proposed System</a:t>
                      </a:r>
                      <a:endParaRPr sz="13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8B5E3C"/>
                    </a:solidFill>
                  </a:tcPr>
                </a:tc>
                <a:extLst>
                  <a:ext uri="{0D108BD9-81ED-4DB2-BD59-A6C34878D82A}">
                    <a16:rowId xmlns:a16="http://schemas.microsoft.com/office/drawing/2014/main" val="10000"/>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Parking Management</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Manual</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Smart auto-allocation via IR sensors</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extLst>
                  <a:ext uri="{0D108BD9-81ED-4DB2-BD59-A6C34878D82A}">
                    <a16:rowId xmlns:a16="http://schemas.microsoft.com/office/drawing/2014/main" val="10001"/>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Gate Control</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Manual</a:t>
                      </a:r>
                      <a:r>
                        <a:rPr lang="en-US" sz="1200">
                          <a:solidFill>
                            <a:srgbClr val="8B2500"/>
                          </a:solidFill>
                          <a:latin typeface="Times New Roman"/>
                          <a:ea typeface="Times New Roman"/>
                          <a:cs typeface="Times New Roman"/>
                          <a:sym typeface="Times New Roman"/>
                        </a:rPr>
                        <a:t>/Ticketing</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RFID-authenticated servo gate</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extLst>
                  <a:ext uri="{0D108BD9-81ED-4DB2-BD59-A6C34878D82A}">
                    <a16:rowId xmlns:a16="http://schemas.microsoft.com/office/drawing/2014/main" val="10002"/>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Slot Tracking</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No real-time tracking</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Live IR-based occupancy monitoring</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extLst>
                  <a:ext uri="{0D108BD9-81ED-4DB2-BD59-A6C34878D82A}">
                    <a16:rowId xmlns:a16="http://schemas.microsoft.com/office/drawing/2014/main" val="10003"/>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Charging Monitor</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None available</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Relay-controlled with % display</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extLst>
                  <a:ext uri="{0D108BD9-81ED-4DB2-BD59-A6C34878D82A}">
                    <a16:rowId xmlns:a16="http://schemas.microsoft.com/office/drawing/2014/main" val="10004"/>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Safety System</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No safety mechanism</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DHT11 thermal protection cutoff</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extLst>
                  <a:ext uri="{0D108BD9-81ED-4DB2-BD59-A6C34878D82A}">
                    <a16:rowId xmlns:a16="http://schemas.microsoft.com/office/drawing/2014/main" val="10005"/>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Monitoring Dashboard</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Absent</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IoT-based real-time web dashboard</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0E6D3"/>
                    </a:solidFill>
                  </a:tcPr>
                </a:tc>
                <a:extLst>
                  <a:ext uri="{0D108BD9-81ED-4DB2-BD59-A6C34878D82A}">
                    <a16:rowId xmlns:a16="http://schemas.microsoft.com/office/drawing/2014/main" val="10006"/>
                  </a:ext>
                </a:extLst>
              </a:tr>
              <a:tr h="502925">
                <a:tc>
                  <a:txBody>
                    <a:bodyPr/>
                    <a:lstStyle/>
                    <a:p>
                      <a:pPr marL="0" marR="0" lvl="0" indent="0" algn="l" rtl="0">
                        <a:spcBef>
                          <a:spcPts val="0"/>
                        </a:spcBef>
                        <a:spcAft>
                          <a:spcPts val="0"/>
                        </a:spcAft>
                        <a:buClr>
                          <a:srgbClr val="2C1810"/>
                        </a:buClr>
                        <a:buSzPts val="1200"/>
                        <a:buFont typeface="Times New Roman"/>
                        <a:buNone/>
                      </a:pPr>
                      <a:r>
                        <a:rPr lang="en-US" sz="1200" u="none" strike="noStrike" cap="none">
                          <a:solidFill>
                            <a:srgbClr val="2C1810"/>
                          </a:solidFill>
                          <a:latin typeface="Times New Roman"/>
                          <a:ea typeface="Times New Roman"/>
                          <a:cs typeface="Times New Roman"/>
                          <a:sym typeface="Times New Roman"/>
                        </a:rPr>
                        <a:t>Authentication</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2500"/>
                        </a:buClr>
                        <a:buSzPts val="1200"/>
                        <a:buFont typeface="Times New Roman"/>
                        <a:buNone/>
                      </a:pPr>
                      <a:r>
                        <a:rPr lang="en-US" sz="1200" u="none" strike="noStrike" cap="none">
                          <a:solidFill>
                            <a:srgbClr val="8B2500"/>
                          </a:solidFill>
                          <a:latin typeface="Times New Roman"/>
                          <a:ea typeface="Times New Roman"/>
                          <a:cs typeface="Times New Roman"/>
                          <a:sym typeface="Times New Roman"/>
                        </a:rPr>
                        <a:t>None / physical key</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tc>
                  <a:txBody>
                    <a:bodyPr/>
                    <a:lstStyle/>
                    <a:p>
                      <a:pPr marL="0" marR="0" lvl="0" indent="0" algn="ctr" rtl="0">
                        <a:spcBef>
                          <a:spcPts val="0"/>
                        </a:spcBef>
                        <a:spcAft>
                          <a:spcPts val="0"/>
                        </a:spcAft>
                        <a:buClr>
                          <a:srgbClr val="8B5E3C"/>
                        </a:buClr>
                        <a:buSzPts val="1200"/>
                        <a:buFont typeface="Times New Roman"/>
                        <a:buNone/>
                      </a:pPr>
                      <a:r>
                        <a:rPr lang="en-US" sz="1200" u="none" strike="noStrike" cap="none">
                          <a:solidFill>
                            <a:srgbClr val="8B5E3C"/>
                          </a:solidFill>
                          <a:latin typeface="Times New Roman"/>
                          <a:ea typeface="Times New Roman"/>
                          <a:cs typeface="Times New Roman"/>
                          <a:sym typeface="Times New Roman"/>
                        </a:rPr>
                        <a:t>RFID card-based secure access</a:t>
                      </a:r>
                      <a:endParaRPr sz="1200" u="none" strike="noStrike" cap="none">
                        <a:latin typeface="Times New Roman"/>
                        <a:ea typeface="Times New Roman"/>
                        <a:cs typeface="Times New Roman"/>
                        <a:sym typeface="Times New Roman"/>
                      </a:endParaRPr>
                    </a:p>
                  </a:txBody>
                  <a:tcPr marL="91450" marR="91450" marT="45725" marB="45725">
                    <a:lnL w="12700" cap="flat" cmpd="sng">
                      <a:solidFill>
                        <a:srgbClr val="E8DDD0"/>
                      </a:solidFill>
                      <a:prstDash val="solid"/>
                      <a:round/>
                      <a:headEnd type="none" w="sm" len="sm"/>
                      <a:tailEnd type="none" w="sm" len="sm"/>
                    </a:lnL>
                    <a:lnR w="12700" cap="flat" cmpd="sng">
                      <a:solidFill>
                        <a:srgbClr val="E8DDD0"/>
                      </a:solidFill>
                      <a:prstDash val="solid"/>
                      <a:round/>
                      <a:headEnd type="none" w="sm" len="sm"/>
                      <a:tailEnd type="none" w="sm" len="sm"/>
                    </a:lnR>
                    <a:lnT w="12700" cap="flat" cmpd="sng">
                      <a:solidFill>
                        <a:srgbClr val="E8DDD0"/>
                      </a:solidFill>
                      <a:prstDash val="solid"/>
                      <a:round/>
                      <a:headEnd type="none" w="sm" len="sm"/>
                      <a:tailEnd type="none" w="sm" len="sm"/>
                    </a:lnT>
                    <a:lnB w="12700" cap="flat" cmpd="sng">
                      <a:solidFill>
                        <a:srgbClr val="E8DDD0"/>
                      </a:solidFill>
                      <a:prstDash val="solid"/>
                      <a:round/>
                      <a:headEnd type="none" w="sm" len="sm"/>
                      <a:tailEnd type="none" w="sm" len="sm"/>
                    </a:lnB>
                    <a:solidFill>
                      <a:srgbClr val="FAF7F2"/>
                    </a:solidFill>
                  </a:tcPr>
                </a:tc>
                <a:extLst>
                  <a:ext uri="{0D108BD9-81ED-4DB2-BD59-A6C34878D82A}">
                    <a16:rowId xmlns:a16="http://schemas.microsoft.com/office/drawing/2014/main" val="10007"/>
                  </a:ext>
                </a:extLst>
              </a:tr>
            </a:tbl>
          </a:graphicData>
        </a:graphic>
      </p:graphicFrame>
      <p:sp>
        <p:nvSpPr>
          <p:cNvPr id="125" name="Google Shape;125;p8"/>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130"/>
        <p:cNvGrpSpPr/>
        <p:nvPr/>
      </p:nvGrpSpPr>
      <p:grpSpPr>
        <a:xfrm>
          <a:off x="0" y="0"/>
          <a:ext cx="0" cy="0"/>
          <a:chOff x="0" y="0"/>
          <a:chExt cx="0" cy="0"/>
        </a:xfrm>
      </p:grpSpPr>
      <p:sp>
        <p:nvSpPr>
          <p:cNvPr id="131" name="Google Shape;131;p9"/>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HARDWARE COMPONENTS</a:t>
            </a:r>
            <a:endParaRPr sz="2200" b="0" i="0" u="none" strike="noStrike" cap="none">
              <a:solidFill>
                <a:schemeClr val="dk1"/>
              </a:solidFill>
              <a:latin typeface="Calibri"/>
              <a:ea typeface="Calibri"/>
              <a:cs typeface="Calibri"/>
              <a:sym typeface="Calibri"/>
            </a:endParaRPr>
          </a:p>
        </p:txBody>
      </p:sp>
      <p:sp>
        <p:nvSpPr>
          <p:cNvPr id="133" name="Google Shape;133;p9"/>
          <p:cNvSpPr/>
          <p:nvPr/>
        </p:nvSpPr>
        <p:spPr>
          <a:xfrm>
            <a:off x="365760" y="868680"/>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9"/>
          <p:cNvSpPr/>
          <p:nvPr/>
        </p:nvSpPr>
        <p:spPr>
          <a:xfrm>
            <a:off x="365760" y="868680"/>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9"/>
          <p:cNvSpPr/>
          <p:nvPr/>
        </p:nvSpPr>
        <p:spPr>
          <a:xfrm>
            <a:off x="548640" y="960120"/>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ESP32</a:t>
            </a:r>
            <a:endParaRPr sz="1400" b="0" i="0" u="none" strike="noStrike" cap="none">
              <a:solidFill>
                <a:schemeClr val="dk1"/>
              </a:solidFill>
              <a:latin typeface="Calibri"/>
              <a:ea typeface="Calibri"/>
              <a:cs typeface="Calibri"/>
              <a:sym typeface="Calibri"/>
            </a:endParaRPr>
          </a:p>
        </p:txBody>
      </p:sp>
      <p:sp>
        <p:nvSpPr>
          <p:cNvPr id="136" name="Google Shape;136;p9"/>
          <p:cNvSpPr/>
          <p:nvPr/>
        </p:nvSpPr>
        <p:spPr>
          <a:xfrm>
            <a:off x="548640" y="1280160"/>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Main microcontroller. Handles WiFi, RFID data, sensor reading, and web server hosting.</a:t>
            </a:r>
            <a:endParaRPr sz="1200" b="0" i="0" u="none" strike="noStrike" cap="none">
              <a:solidFill>
                <a:schemeClr val="dk1"/>
              </a:solidFill>
              <a:latin typeface="Calibri"/>
              <a:ea typeface="Calibri"/>
              <a:cs typeface="Calibri"/>
              <a:sym typeface="Calibri"/>
            </a:endParaRPr>
          </a:p>
        </p:txBody>
      </p:sp>
      <p:sp>
        <p:nvSpPr>
          <p:cNvPr id="137" name="Google Shape;137;p9"/>
          <p:cNvSpPr/>
          <p:nvPr/>
        </p:nvSpPr>
        <p:spPr>
          <a:xfrm>
            <a:off x="4846320" y="868680"/>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a:off x="4846320" y="868680"/>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9"/>
          <p:cNvSpPr/>
          <p:nvPr/>
        </p:nvSpPr>
        <p:spPr>
          <a:xfrm>
            <a:off x="5029200" y="960120"/>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RFID RC522</a:t>
            </a:r>
            <a:endParaRPr sz="1400" b="0" i="0" u="none" strike="noStrike" cap="none">
              <a:solidFill>
                <a:schemeClr val="dk1"/>
              </a:solidFill>
              <a:latin typeface="Calibri"/>
              <a:ea typeface="Calibri"/>
              <a:cs typeface="Calibri"/>
              <a:sym typeface="Calibri"/>
            </a:endParaRPr>
          </a:p>
        </p:txBody>
      </p:sp>
      <p:sp>
        <p:nvSpPr>
          <p:cNvPr id="140" name="Google Shape;140;p9"/>
          <p:cNvSpPr/>
          <p:nvPr/>
        </p:nvSpPr>
        <p:spPr>
          <a:xfrm>
            <a:off x="5029200" y="1280160"/>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Reads RFID cards at the entry gate for user authentication.</a:t>
            </a:r>
            <a:endParaRPr sz="1200" b="0" i="0" u="none" strike="noStrike" cap="none">
              <a:solidFill>
                <a:schemeClr val="dk1"/>
              </a:solidFill>
              <a:latin typeface="Calibri"/>
              <a:ea typeface="Calibri"/>
              <a:cs typeface="Calibri"/>
              <a:sym typeface="Calibri"/>
            </a:endParaRPr>
          </a:p>
        </p:txBody>
      </p:sp>
      <p:sp>
        <p:nvSpPr>
          <p:cNvPr id="141" name="Google Shape;141;p9"/>
          <p:cNvSpPr/>
          <p:nvPr/>
        </p:nvSpPr>
        <p:spPr>
          <a:xfrm>
            <a:off x="365760" y="2258568"/>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9"/>
          <p:cNvSpPr/>
          <p:nvPr/>
        </p:nvSpPr>
        <p:spPr>
          <a:xfrm>
            <a:off x="365760" y="2258568"/>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9"/>
          <p:cNvSpPr/>
          <p:nvPr/>
        </p:nvSpPr>
        <p:spPr>
          <a:xfrm>
            <a:off x="548640" y="2350008"/>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Servo Motor</a:t>
            </a:r>
            <a:endParaRPr sz="1400" b="0" i="0" u="none" strike="noStrike" cap="none">
              <a:solidFill>
                <a:schemeClr val="dk1"/>
              </a:solidFill>
              <a:latin typeface="Calibri"/>
              <a:ea typeface="Calibri"/>
              <a:cs typeface="Calibri"/>
              <a:sym typeface="Calibri"/>
            </a:endParaRPr>
          </a:p>
        </p:txBody>
      </p:sp>
      <p:sp>
        <p:nvSpPr>
          <p:cNvPr id="144" name="Google Shape;144;p9"/>
          <p:cNvSpPr/>
          <p:nvPr/>
        </p:nvSpPr>
        <p:spPr>
          <a:xfrm>
            <a:off x="548640" y="2670048"/>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Controls the entry gate. Opens on successful RFID authentication.</a:t>
            </a:r>
            <a:endParaRPr sz="1200" b="0" i="0" u="none" strike="noStrike" cap="none">
              <a:solidFill>
                <a:schemeClr val="dk1"/>
              </a:solidFill>
              <a:latin typeface="Calibri"/>
              <a:ea typeface="Calibri"/>
              <a:cs typeface="Calibri"/>
              <a:sym typeface="Calibri"/>
            </a:endParaRPr>
          </a:p>
        </p:txBody>
      </p:sp>
      <p:sp>
        <p:nvSpPr>
          <p:cNvPr id="145" name="Google Shape;145;p9"/>
          <p:cNvSpPr/>
          <p:nvPr/>
        </p:nvSpPr>
        <p:spPr>
          <a:xfrm>
            <a:off x="4846320" y="2258568"/>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p:nvPr/>
        </p:nvSpPr>
        <p:spPr>
          <a:xfrm>
            <a:off x="4846320" y="2258568"/>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9"/>
          <p:cNvSpPr/>
          <p:nvPr/>
        </p:nvSpPr>
        <p:spPr>
          <a:xfrm>
            <a:off x="5029200" y="2350008"/>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IR Sensors (×3)</a:t>
            </a:r>
            <a:endParaRPr sz="1400" b="0" i="0" u="none" strike="noStrike" cap="none">
              <a:solidFill>
                <a:schemeClr val="dk1"/>
              </a:solidFill>
              <a:latin typeface="Calibri"/>
              <a:ea typeface="Calibri"/>
              <a:cs typeface="Calibri"/>
              <a:sym typeface="Calibri"/>
            </a:endParaRPr>
          </a:p>
        </p:txBody>
      </p:sp>
      <p:sp>
        <p:nvSpPr>
          <p:cNvPr id="148" name="Google Shape;148;p9"/>
          <p:cNvSpPr/>
          <p:nvPr/>
        </p:nvSpPr>
        <p:spPr>
          <a:xfrm>
            <a:off x="5029200" y="2670048"/>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Detects vehicle presence in each parking slot for occupancy tracking.</a:t>
            </a:r>
            <a:endParaRPr sz="1200" b="0" i="0" u="none" strike="noStrike" cap="none">
              <a:solidFill>
                <a:schemeClr val="dk1"/>
              </a:solidFill>
              <a:latin typeface="Calibri"/>
              <a:ea typeface="Calibri"/>
              <a:cs typeface="Calibri"/>
              <a:sym typeface="Calibri"/>
            </a:endParaRPr>
          </a:p>
        </p:txBody>
      </p:sp>
      <p:sp>
        <p:nvSpPr>
          <p:cNvPr id="149" name="Google Shape;149;p9"/>
          <p:cNvSpPr/>
          <p:nvPr/>
        </p:nvSpPr>
        <p:spPr>
          <a:xfrm>
            <a:off x="365760" y="3648456"/>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9"/>
          <p:cNvSpPr/>
          <p:nvPr/>
        </p:nvSpPr>
        <p:spPr>
          <a:xfrm>
            <a:off x="365760" y="3648456"/>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a:off x="548640" y="3739896"/>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Relay Module</a:t>
            </a:r>
            <a:endParaRPr sz="1400" b="0" i="0" u="none" strike="noStrike" cap="none">
              <a:solidFill>
                <a:schemeClr val="dk1"/>
              </a:solidFill>
              <a:latin typeface="Calibri"/>
              <a:ea typeface="Calibri"/>
              <a:cs typeface="Calibri"/>
              <a:sym typeface="Calibri"/>
            </a:endParaRPr>
          </a:p>
        </p:txBody>
      </p:sp>
      <p:sp>
        <p:nvSpPr>
          <p:cNvPr id="152" name="Google Shape;152;p9"/>
          <p:cNvSpPr/>
          <p:nvPr/>
        </p:nvSpPr>
        <p:spPr>
          <a:xfrm>
            <a:off x="548640" y="4059936"/>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Switches charging circuit ON/OFF based on vehicle detection and safety conditions.</a:t>
            </a:r>
            <a:endParaRPr sz="1200" b="0" i="0" u="none" strike="noStrike" cap="none">
              <a:solidFill>
                <a:schemeClr val="dk1"/>
              </a:solidFill>
              <a:latin typeface="Calibri"/>
              <a:ea typeface="Calibri"/>
              <a:cs typeface="Calibri"/>
              <a:sym typeface="Calibri"/>
            </a:endParaRPr>
          </a:p>
        </p:txBody>
      </p:sp>
      <p:sp>
        <p:nvSpPr>
          <p:cNvPr id="153" name="Google Shape;153;p9"/>
          <p:cNvSpPr/>
          <p:nvPr/>
        </p:nvSpPr>
        <p:spPr>
          <a:xfrm>
            <a:off x="4846320" y="3648456"/>
            <a:ext cx="4206240" cy="114300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4846320" y="3648456"/>
            <a:ext cx="73152" cy="1143000"/>
          </a:xfrm>
          <a:prstGeom prst="rect">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9"/>
          <p:cNvSpPr/>
          <p:nvPr/>
        </p:nvSpPr>
        <p:spPr>
          <a:xfrm>
            <a:off x="5029200" y="3739896"/>
            <a:ext cx="384048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400"/>
              <a:buFont typeface="Times New Roman"/>
              <a:buNone/>
            </a:pPr>
            <a:r>
              <a:rPr lang="en-US" sz="1400" b="1" i="0" u="none" strike="noStrike" cap="none">
                <a:solidFill>
                  <a:srgbClr val="8B5E3C"/>
                </a:solidFill>
                <a:latin typeface="Times New Roman"/>
                <a:ea typeface="Times New Roman"/>
                <a:cs typeface="Times New Roman"/>
                <a:sym typeface="Times New Roman"/>
              </a:rPr>
              <a:t>DHT11 Sensor</a:t>
            </a:r>
            <a:endParaRPr sz="1400" b="0" i="0" u="none" strike="noStrike" cap="none">
              <a:solidFill>
                <a:schemeClr val="dk1"/>
              </a:solidFill>
              <a:latin typeface="Calibri"/>
              <a:ea typeface="Calibri"/>
              <a:cs typeface="Calibri"/>
              <a:sym typeface="Calibri"/>
            </a:endParaRPr>
          </a:p>
        </p:txBody>
      </p:sp>
      <p:sp>
        <p:nvSpPr>
          <p:cNvPr id="156" name="Google Shape;156;p9"/>
          <p:cNvSpPr/>
          <p:nvPr/>
        </p:nvSpPr>
        <p:spPr>
          <a:xfrm>
            <a:off x="5029200" y="4059936"/>
            <a:ext cx="3840480"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Measures temperature; triggers charging cut-off if overheating.</a:t>
            </a:r>
            <a:endParaRPr sz="1200" b="0" i="0" u="none" strike="noStrike" cap="none">
              <a:solidFill>
                <a:schemeClr val="dk1"/>
              </a:solidFill>
              <a:latin typeface="Calibri"/>
              <a:ea typeface="Calibri"/>
              <a:cs typeface="Calibri"/>
              <a:sym typeface="Calibri"/>
            </a:endParaRPr>
          </a:p>
        </p:txBody>
      </p:sp>
      <p:sp>
        <p:nvSpPr>
          <p:cNvPr id="157" name="Google Shape;157;p9"/>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162"/>
        <p:cNvGrpSpPr/>
        <p:nvPr/>
      </p:nvGrpSpPr>
      <p:grpSpPr>
        <a:xfrm>
          <a:off x="0" y="0"/>
          <a:ext cx="0" cy="0"/>
          <a:chOff x="0" y="0"/>
          <a:chExt cx="0" cy="0"/>
        </a:xfrm>
      </p:grpSpPr>
      <p:sp>
        <p:nvSpPr>
          <p:cNvPr id="163" name="Google Shape;163;p10"/>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0"/>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000"/>
              <a:buFont typeface="Georgia"/>
              <a:buNone/>
            </a:pPr>
            <a:r>
              <a:rPr lang="en-US" sz="2000" b="1" i="0" u="none" strike="noStrike" cap="none">
                <a:solidFill>
                  <a:srgbClr val="C4956A"/>
                </a:solidFill>
                <a:latin typeface="Georgia"/>
                <a:ea typeface="Georgia"/>
                <a:cs typeface="Georgia"/>
                <a:sym typeface="Georgia"/>
              </a:rPr>
              <a:t>SOFTWARE &amp; TECHNOLOGIES USED</a:t>
            </a:r>
            <a:endParaRPr sz="2000" b="0" i="0" u="none" strike="noStrike" cap="none">
              <a:solidFill>
                <a:schemeClr val="dk1"/>
              </a:solidFill>
              <a:latin typeface="Calibri"/>
              <a:ea typeface="Calibri"/>
              <a:cs typeface="Calibri"/>
              <a:sym typeface="Calibri"/>
            </a:endParaRPr>
          </a:p>
        </p:txBody>
      </p:sp>
      <p:sp>
        <p:nvSpPr>
          <p:cNvPr id="165" name="Google Shape;165;p10"/>
          <p:cNvSpPr/>
          <p:nvPr/>
        </p:nvSpPr>
        <p:spPr>
          <a:xfrm>
            <a:off x="365710" y="1307585"/>
            <a:ext cx="8412600" cy="59430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0"/>
          <p:cNvSpPr/>
          <p:nvPr/>
        </p:nvSpPr>
        <p:spPr>
          <a:xfrm>
            <a:off x="365674" y="1307588"/>
            <a:ext cx="63900" cy="5943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0"/>
          <p:cNvSpPr/>
          <p:nvPr/>
        </p:nvSpPr>
        <p:spPr>
          <a:xfrm>
            <a:off x="534803" y="1399068"/>
            <a:ext cx="19203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i="0" u="none" strike="noStrike" cap="none">
                <a:solidFill>
                  <a:srgbClr val="8B5E3C"/>
                </a:solidFill>
                <a:latin typeface="Times New Roman"/>
                <a:ea typeface="Times New Roman"/>
                <a:cs typeface="Times New Roman"/>
                <a:sym typeface="Times New Roman"/>
              </a:rPr>
              <a:t>Arduino IDE</a:t>
            </a:r>
            <a:endParaRPr sz="1300" b="0" i="0" u="none" strike="noStrike" cap="none">
              <a:solidFill>
                <a:schemeClr val="dk1"/>
              </a:solidFill>
              <a:latin typeface="Calibri"/>
              <a:ea typeface="Calibri"/>
              <a:cs typeface="Calibri"/>
              <a:sym typeface="Calibri"/>
            </a:endParaRPr>
          </a:p>
        </p:txBody>
      </p:sp>
      <p:cxnSp>
        <p:nvCxnSpPr>
          <p:cNvPr id="168" name="Google Shape;168;p10"/>
          <p:cNvCxnSpPr/>
          <p:nvPr/>
        </p:nvCxnSpPr>
        <p:spPr>
          <a:xfrm>
            <a:off x="2560320" y="1431038"/>
            <a:ext cx="0" cy="347400"/>
          </a:xfrm>
          <a:prstGeom prst="straightConnector1">
            <a:avLst/>
          </a:prstGeom>
          <a:noFill/>
          <a:ln w="12700" cap="flat" cmpd="sng">
            <a:solidFill>
              <a:srgbClr val="C4956A"/>
            </a:solidFill>
            <a:prstDash val="solid"/>
            <a:round/>
            <a:headEnd type="none" w="sm" len="sm"/>
            <a:tailEnd type="none" w="sm" len="sm"/>
          </a:ln>
        </p:spPr>
      </p:cxnSp>
      <p:sp>
        <p:nvSpPr>
          <p:cNvPr id="169" name="Google Shape;169;p10"/>
          <p:cNvSpPr/>
          <p:nvPr/>
        </p:nvSpPr>
        <p:spPr>
          <a:xfrm>
            <a:off x="2711275" y="1389924"/>
            <a:ext cx="5852100" cy="521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Integrated Development Environment used to write, compile, and upload Embedded C++ code to the ESP32 microcontroller.</a:t>
            </a:r>
            <a:endParaRPr sz="1200" b="0" i="0" u="none" strike="noStrike" cap="none">
              <a:solidFill>
                <a:schemeClr val="dk1"/>
              </a:solidFill>
              <a:latin typeface="Calibri"/>
              <a:ea typeface="Calibri"/>
              <a:cs typeface="Calibri"/>
              <a:sym typeface="Calibri"/>
            </a:endParaRPr>
          </a:p>
        </p:txBody>
      </p:sp>
      <p:sp>
        <p:nvSpPr>
          <p:cNvPr id="170" name="Google Shape;170;p10"/>
          <p:cNvSpPr/>
          <p:nvPr/>
        </p:nvSpPr>
        <p:spPr>
          <a:xfrm>
            <a:off x="365710" y="2400223"/>
            <a:ext cx="8412600" cy="59430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0"/>
          <p:cNvSpPr/>
          <p:nvPr/>
        </p:nvSpPr>
        <p:spPr>
          <a:xfrm>
            <a:off x="365735" y="2400223"/>
            <a:ext cx="63900" cy="5943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0"/>
          <p:cNvSpPr/>
          <p:nvPr/>
        </p:nvSpPr>
        <p:spPr>
          <a:xfrm>
            <a:off x="534828" y="2445968"/>
            <a:ext cx="19203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a:solidFill>
                  <a:srgbClr val="8B5E3C"/>
                </a:solidFill>
                <a:latin typeface="Times New Roman"/>
                <a:ea typeface="Times New Roman"/>
                <a:cs typeface="Times New Roman"/>
                <a:sym typeface="Times New Roman"/>
              </a:rPr>
              <a:t>Wokwi Simulator </a:t>
            </a:r>
            <a:endParaRPr sz="1300" b="0" i="0" u="none" strike="noStrike" cap="none">
              <a:solidFill>
                <a:schemeClr val="dk1"/>
              </a:solidFill>
              <a:latin typeface="Calibri"/>
              <a:ea typeface="Calibri"/>
              <a:cs typeface="Calibri"/>
              <a:sym typeface="Calibri"/>
            </a:endParaRPr>
          </a:p>
        </p:txBody>
      </p:sp>
      <p:cxnSp>
        <p:nvCxnSpPr>
          <p:cNvPr id="173" name="Google Shape;173;p10"/>
          <p:cNvCxnSpPr/>
          <p:nvPr/>
        </p:nvCxnSpPr>
        <p:spPr>
          <a:xfrm>
            <a:off x="2560320" y="2523676"/>
            <a:ext cx="0" cy="347400"/>
          </a:xfrm>
          <a:prstGeom prst="straightConnector1">
            <a:avLst/>
          </a:prstGeom>
          <a:noFill/>
          <a:ln w="12700" cap="flat" cmpd="sng">
            <a:solidFill>
              <a:srgbClr val="C4956A"/>
            </a:solidFill>
            <a:prstDash val="solid"/>
            <a:round/>
            <a:headEnd type="none" w="sm" len="sm"/>
            <a:tailEnd type="none" w="sm" len="sm"/>
          </a:ln>
        </p:spPr>
      </p:cxnSp>
      <p:sp>
        <p:nvSpPr>
          <p:cNvPr id="174" name="Google Shape;174;p10"/>
          <p:cNvSpPr/>
          <p:nvPr/>
        </p:nvSpPr>
        <p:spPr>
          <a:xfrm>
            <a:off x="2665525" y="2436824"/>
            <a:ext cx="5852100" cy="5211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US" sz="1150">
                <a:solidFill>
                  <a:srgbClr val="1B2A4A"/>
                </a:solidFill>
                <a:latin typeface="Calibri"/>
                <a:ea typeface="Calibri"/>
                <a:cs typeface="Calibri"/>
                <a:sym typeface="Calibri"/>
              </a:rPr>
              <a:t>Online circuit simulation environment used to test the ESP32 circuit before physical assembly.</a:t>
            </a:r>
            <a:endParaRPr sz="1150">
              <a:solidFill>
                <a:srgbClr val="1B2A4A"/>
              </a:solidFill>
              <a:latin typeface="Calibri"/>
              <a:ea typeface="Calibri"/>
              <a:cs typeface="Calibri"/>
              <a:sym typeface="Calibri"/>
            </a:endParaRPr>
          </a:p>
          <a:p>
            <a:pPr marL="0" marR="0" lvl="0" indent="0" algn="l" rtl="0">
              <a:spcBef>
                <a:spcPts val="0"/>
              </a:spcBef>
              <a:spcAft>
                <a:spcPts val="0"/>
              </a:spcAft>
              <a:buClr>
                <a:srgbClr val="5C3D2E"/>
              </a:buClr>
              <a:buSzPts val="1200"/>
              <a:buFont typeface="Times New Roman"/>
              <a:buNone/>
            </a:pPr>
            <a:endParaRPr sz="1200">
              <a:solidFill>
                <a:srgbClr val="5C3D2E"/>
              </a:solidFill>
              <a:latin typeface="Times New Roman"/>
              <a:ea typeface="Times New Roman"/>
              <a:cs typeface="Times New Roman"/>
              <a:sym typeface="Times New Roman"/>
            </a:endParaRPr>
          </a:p>
        </p:txBody>
      </p:sp>
      <p:sp>
        <p:nvSpPr>
          <p:cNvPr id="175" name="Google Shape;175;p10"/>
          <p:cNvSpPr/>
          <p:nvPr/>
        </p:nvSpPr>
        <p:spPr>
          <a:xfrm>
            <a:off x="429785" y="3538724"/>
            <a:ext cx="8412600" cy="59430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0"/>
          <p:cNvSpPr/>
          <p:nvPr/>
        </p:nvSpPr>
        <p:spPr>
          <a:xfrm>
            <a:off x="393275" y="3538725"/>
            <a:ext cx="63900" cy="5943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0"/>
          <p:cNvSpPr/>
          <p:nvPr/>
        </p:nvSpPr>
        <p:spPr>
          <a:xfrm>
            <a:off x="548603" y="3584481"/>
            <a:ext cx="1920300" cy="502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sz="1300" b="1">
                <a:solidFill>
                  <a:srgbClr val="8B5E3C"/>
                </a:solidFill>
                <a:latin typeface="Times New Roman"/>
                <a:ea typeface="Times New Roman"/>
                <a:cs typeface="Times New Roman"/>
                <a:sym typeface="Times New Roman"/>
              </a:rPr>
              <a:t>Firebase </a:t>
            </a:r>
            <a:endParaRPr sz="1300" b="0" i="0" u="none" strike="noStrike" cap="none">
              <a:solidFill>
                <a:schemeClr val="dk1"/>
              </a:solidFill>
              <a:latin typeface="Calibri"/>
              <a:ea typeface="Calibri"/>
              <a:cs typeface="Calibri"/>
              <a:sym typeface="Calibri"/>
            </a:endParaRPr>
          </a:p>
        </p:txBody>
      </p:sp>
      <p:cxnSp>
        <p:nvCxnSpPr>
          <p:cNvPr id="178" name="Google Shape;178;p10"/>
          <p:cNvCxnSpPr/>
          <p:nvPr/>
        </p:nvCxnSpPr>
        <p:spPr>
          <a:xfrm>
            <a:off x="2560320" y="3662164"/>
            <a:ext cx="0" cy="347400"/>
          </a:xfrm>
          <a:prstGeom prst="straightConnector1">
            <a:avLst/>
          </a:prstGeom>
          <a:noFill/>
          <a:ln w="12700" cap="flat" cmpd="sng">
            <a:solidFill>
              <a:srgbClr val="C4956A"/>
            </a:solidFill>
            <a:prstDash val="solid"/>
            <a:round/>
            <a:headEnd type="none" w="sm" len="sm"/>
            <a:tailEnd type="none" w="sm" len="sm"/>
          </a:ln>
        </p:spPr>
      </p:cxnSp>
      <p:sp>
        <p:nvSpPr>
          <p:cNvPr id="179" name="Google Shape;179;p10"/>
          <p:cNvSpPr/>
          <p:nvPr/>
        </p:nvSpPr>
        <p:spPr>
          <a:xfrm>
            <a:off x="2711275" y="3662175"/>
            <a:ext cx="5760600" cy="5028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US" sz="1200">
                <a:solidFill>
                  <a:srgbClr val="1B2A4A"/>
                </a:solidFill>
                <a:latin typeface="Calibri"/>
                <a:ea typeface="Calibri"/>
                <a:cs typeface="Calibri"/>
                <a:sym typeface="Calibri"/>
              </a:rPr>
              <a:t>Cloud backend used to interlink the ESP32 hardware with the web dashboard over Wi-Fi in real time.</a:t>
            </a:r>
            <a:endParaRPr sz="1200">
              <a:solidFill>
                <a:srgbClr val="1B2A4A"/>
              </a:solidFill>
              <a:latin typeface="Calibri"/>
              <a:ea typeface="Calibri"/>
              <a:cs typeface="Calibri"/>
              <a:sym typeface="Calibri"/>
            </a:endParaRPr>
          </a:p>
          <a:p>
            <a:pPr marL="0" marR="0" lvl="0" indent="0" algn="l" rtl="0">
              <a:spcBef>
                <a:spcPts val="0"/>
              </a:spcBef>
              <a:spcAft>
                <a:spcPts val="0"/>
              </a:spcAft>
              <a:buClr>
                <a:srgbClr val="5C3D2E"/>
              </a:buClr>
              <a:buSzPts val="1200"/>
              <a:buFont typeface="Times New Roman"/>
              <a:buNone/>
            </a:pPr>
            <a:endParaRPr sz="1200">
              <a:solidFill>
                <a:srgbClr val="5C3D2E"/>
              </a:solidFill>
              <a:latin typeface="Times New Roman"/>
              <a:ea typeface="Times New Roman"/>
              <a:cs typeface="Times New Roman"/>
              <a:sym typeface="Times New Roman"/>
            </a:endParaRPr>
          </a:p>
        </p:txBody>
      </p:sp>
      <p:sp>
        <p:nvSpPr>
          <p:cNvPr id="180" name="Google Shape;180;p10"/>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185"/>
        <p:cNvGrpSpPr/>
        <p:nvPr/>
      </p:nvGrpSpPr>
      <p:grpSpPr>
        <a:xfrm>
          <a:off x="0" y="0"/>
          <a:ext cx="0" cy="0"/>
          <a:chOff x="0" y="0"/>
          <a:chExt cx="0" cy="0"/>
        </a:xfrm>
      </p:grpSpPr>
      <p:sp>
        <p:nvSpPr>
          <p:cNvPr id="186" name="Google Shape;186;p11"/>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ALGORITHM &amp; TECHNIQUES</a:t>
            </a:r>
            <a:endParaRPr sz="2200" b="0" i="0" u="none" strike="noStrike" cap="none">
              <a:solidFill>
                <a:schemeClr val="dk1"/>
              </a:solidFill>
              <a:latin typeface="Calibri"/>
              <a:ea typeface="Calibri"/>
              <a:cs typeface="Calibri"/>
              <a:sym typeface="Calibri"/>
            </a:endParaRPr>
          </a:p>
        </p:txBody>
      </p:sp>
      <p:sp>
        <p:nvSpPr>
          <p:cNvPr id="188" name="Google Shape;188;p11"/>
          <p:cNvSpPr/>
          <p:nvPr/>
        </p:nvSpPr>
        <p:spPr>
          <a:xfrm>
            <a:off x="365760" y="822960"/>
            <a:ext cx="4206240" cy="187452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1"/>
          <p:cNvSpPr/>
          <p:nvPr/>
        </p:nvSpPr>
        <p:spPr>
          <a:xfrm>
            <a:off x="365760" y="822960"/>
            <a:ext cx="4206240" cy="384048"/>
          </a:xfrm>
          <a:prstGeom prst="rect">
            <a:avLst/>
          </a:prstGeom>
          <a:solidFill>
            <a:srgbClr val="8B5E3C"/>
          </a:solidFill>
          <a:ln w="12700" cap="flat" cmpd="sng">
            <a:solidFill>
              <a:srgbClr val="8B5E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1"/>
          <p:cNvSpPr/>
          <p:nvPr/>
        </p:nvSpPr>
        <p:spPr>
          <a:xfrm>
            <a:off x="502920" y="859536"/>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Times New Roman"/>
              <a:buNone/>
            </a:pPr>
            <a:r>
              <a:rPr lang="en-US" sz="1300" b="1" i="0" u="none" strike="noStrike" cap="none">
                <a:solidFill>
                  <a:srgbClr val="FFFFFF"/>
                </a:solidFill>
                <a:latin typeface="Times New Roman"/>
                <a:ea typeface="Times New Roman"/>
                <a:cs typeface="Times New Roman"/>
                <a:sym typeface="Times New Roman"/>
              </a:rPr>
              <a:t>RFID Authentication</a:t>
            </a:r>
            <a:endParaRPr sz="1300" b="0" i="0" u="none" strike="noStrike" cap="none">
              <a:solidFill>
                <a:schemeClr val="dk1"/>
              </a:solidFill>
              <a:latin typeface="Calibri"/>
              <a:ea typeface="Calibri"/>
              <a:cs typeface="Calibri"/>
              <a:sym typeface="Calibri"/>
            </a:endParaRPr>
          </a:p>
        </p:txBody>
      </p:sp>
      <p:sp>
        <p:nvSpPr>
          <p:cNvPr id="191" name="Google Shape;191;p11"/>
          <p:cNvSpPr/>
          <p:nvPr/>
        </p:nvSpPr>
        <p:spPr>
          <a:xfrm>
            <a:off x="502920" y="1280160"/>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1. Read card UID via SPI from RC522</a:t>
            </a:r>
            <a:endParaRPr sz="1200" b="0" i="0" u="none" strike="noStrike" cap="none">
              <a:solidFill>
                <a:schemeClr val="dk1"/>
              </a:solidFill>
              <a:latin typeface="Calibri"/>
              <a:ea typeface="Calibri"/>
              <a:cs typeface="Calibri"/>
              <a:sym typeface="Calibri"/>
            </a:endParaRPr>
          </a:p>
        </p:txBody>
      </p:sp>
      <p:sp>
        <p:nvSpPr>
          <p:cNvPr id="192" name="Google Shape;192;p11"/>
          <p:cNvSpPr/>
          <p:nvPr/>
        </p:nvSpPr>
        <p:spPr>
          <a:xfrm>
            <a:off x="502920" y="1719072"/>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2. Compare UID against stored whitelist</a:t>
            </a:r>
            <a:endParaRPr sz="1200" b="0" i="0" u="none" strike="noStrike" cap="none">
              <a:solidFill>
                <a:schemeClr val="dk1"/>
              </a:solidFill>
              <a:latin typeface="Calibri"/>
              <a:ea typeface="Calibri"/>
              <a:cs typeface="Calibri"/>
              <a:sym typeface="Calibri"/>
            </a:endParaRPr>
          </a:p>
        </p:txBody>
      </p:sp>
      <p:sp>
        <p:nvSpPr>
          <p:cNvPr id="193" name="Google Shape;193;p11"/>
          <p:cNvSpPr/>
          <p:nvPr/>
        </p:nvSpPr>
        <p:spPr>
          <a:xfrm>
            <a:off x="502920" y="2157984"/>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3. Trigger servo to open gate if match found</a:t>
            </a:r>
            <a:endParaRPr sz="1200" b="0" i="0" u="none" strike="noStrike" cap="none">
              <a:solidFill>
                <a:schemeClr val="dk1"/>
              </a:solidFill>
              <a:latin typeface="Calibri"/>
              <a:ea typeface="Calibri"/>
              <a:cs typeface="Calibri"/>
              <a:sym typeface="Calibri"/>
            </a:endParaRPr>
          </a:p>
        </p:txBody>
      </p:sp>
      <p:sp>
        <p:nvSpPr>
          <p:cNvPr id="194" name="Google Shape;194;p11"/>
          <p:cNvSpPr/>
          <p:nvPr/>
        </p:nvSpPr>
        <p:spPr>
          <a:xfrm>
            <a:off x="4846320" y="822960"/>
            <a:ext cx="4206240" cy="187452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1"/>
          <p:cNvSpPr/>
          <p:nvPr/>
        </p:nvSpPr>
        <p:spPr>
          <a:xfrm>
            <a:off x="4846320" y="822960"/>
            <a:ext cx="4206240" cy="384048"/>
          </a:xfrm>
          <a:prstGeom prst="rect">
            <a:avLst/>
          </a:prstGeom>
          <a:solidFill>
            <a:srgbClr val="8B5E3C"/>
          </a:solidFill>
          <a:ln w="12700" cap="flat" cmpd="sng">
            <a:solidFill>
              <a:srgbClr val="8B5E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a:off x="4983480" y="859536"/>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Times New Roman"/>
              <a:buNone/>
            </a:pPr>
            <a:r>
              <a:rPr lang="en-US" sz="1300" b="1" i="0" u="none" strike="noStrike" cap="none">
                <a:solidFill>
                  <a:srgbClr val="FFFFFF"/>
                </a:solidFill>
                <a:latin typeface="Times New Roman"/>
                <a:ea typeface="Times New Roman"/>
                <a:cs typeface="Times New Roman"/>
                <a:sym typeface="Times New Roman"/>
              </a:rPr>
              <a:t>IR-Based Occupancy Detection</a:t>
            </a:r>
            <a:endParaRPr sz="1300" b="0" i="0" u="none" strike="noStrike" cap="none">
              <a:solidFill>
                <a:schemeClr val="dk1"/>
              </a:solidFill>
              <a:latin typeface="Calibri"/>
              <a:ea typeface="Calibri"/>
              <a:cs typeface="Calibri"/>
              <a:sym typeface="Calibri"/>
            </a:endParaRPr>
          </a:p>
        </p:txBody>
      </p:sp>
      <p:sp>
        <p:nvSpPr>
          <p:cNvPr id="197" name="Google Shape;197;p11"/>
          <p:cNvSpPr/>
          <p:nvPr/>
        </p:nvSpPr>
        <p:spPr>
          <a:xfrm>
            <a:off x="4983480" y="1280160"/>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1. IR sensor emits infrared beam across slot</a:t>
            </a:r>
            <a:endParaRPr sz="1200" b="0" i="0" u="none" strike="noStrike" cap="none">
              <a:solidFill>
                <a:schemeClr val="dk1"/>
              </a:solidFill>
              <a:latin typeface="Calibri"/>
              <a:ea typeface="Calibri"/>
              <a:cs typeface="Calibri"/>
              <a:sym typeface="Calibri"/>
            </a:endParaRPr>
          </a:p>
        </p:txBody>
      </p:sp>
      <p:sp>
        <p:nvSpPr>
          <p:cNvPr id="198" name="Google Shape;198;p11"/>
          <p:cNvSpPr/>
          <p:nvPr/>
        </p:nvSpPr>
        <p:spPr>
          <a:xfrm>
            <a:off x="4983480" y="1719072"/>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2. Vehicle interrupts beam → output goes LOW</a:t>
            </a:r>
            <a:endParaRPr sz="1200" b="0" i="0" u="none" strike="noStrike" cap="none">
              <a:solidFill>
                <a:schemeClr val="dk1"/>
              </a:solidFill>
              <a:latin typeface="Calibri"/>
              <a:ea typeface="Calibri"/>
              <a:cs typeface="Calibri"/>
              <a:sym typeface="Calibri"/>
            </a:endParaRPr>
          </a:p>
        </p:txBody>
      </p:sp>
      <p:sp>
        <p:nvSpPr>
          <p:cNvPr id="199" name="Google Shape;199;p11"/>
          <p:cNvSpPr/>
          <p:nvPr/>
        </p:nvSpPr>
        <p:spPr>
          <a:xfrm>
            <a:off x="4983480" y="2157984"/>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3. ESP32 reads LOW signal → marks slot Occupied</a:t>
            </a:r>
            <a:endParaRPr sz="1200" b="0" i="0" u="none" strike="noStrike" cap="none">
              <a:solidFill>
                <a:schemeClr val="dk1"/>
              </a:solidFill>
              <a:latin typeface="Calibri"/>
              <a:ea typeface="Calibri"/>
              <a:cs typeface="Calibri"/>
              <a:sym typeface="Calibri"/>
            </a:endParaRPr>
          </a:p>
        </p:txBody>
      </p:sp>
      <p:sp>
        <p:nvSpPr>
          <p:cNvPr id="200" name="Google Shape;200;p11"/>
          <p:cNvSpPr/>
          <p:nvPr/>
        </p:nvSpPr>
        <p:spPr>
          <a:xfrm>
            <a:off x="365760" y="2880360"/>
            <a:ext cx="4206240" cy="187452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a:off x="365760" y="2880360"/>
            <a:ext cx="4206240" cy="384048"/>
          </a:xfrm>
          <a:prstGeom prst="rect">
            <a:avLst/>
          </a:prstGeom>
          <a:solidFill>
            <a:srgbClr val="8B5E3C"/>
          </a:solidFill>
          <a:ln w="12700" cap="flat" cmpd="sng">
            <a:solidFill>
              <a:srgbClr val="8B5E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a:off x="502920" y="2916936"/>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Times New Roman"/>
              <a:buNone/>
            </a:pPr>
            <a:r>
              <a:rPr lang="en-US" sz="1300" b="1" i="0" u="none" strike="noStrike" cap="none">
                <a:solidFill>
                  <a:srgbClr val="FFFFFF"/>
                </a:solidFill>
                <a:latin typeface="Times New Roman"/>
                <a:ea typeface="Times New Roman"/>
                <a:cs typeface="Times New Roman"/>
                <a:sym typeface="Times New Roman"/>
              </a:rPr>
              <a:t>Automatic Charging Logic</a:t>
            </a:r>
            <a:endParaRPr sz="1300" b="0" i="0" u="none" strike="noStrike" cap="none">
              <a:solidFill>
                <a:schemeClr val="dk1"/>
              </a:solidFill>
              <a:latin typeface="Calibri"/>
              <a:ea typeface="Calibri"/>
              <a:cs typeface="Calibri"/>
              <a:sym typeface="Calibri"/>
            </a:endParaRPr>
          </a:p>
        </p:txBody>
      </p:sp>
      <p:sp>
        <p:nvSpPr>
          <p:cNvPr id="203" name="Google Shape;203;p11"/>
          <p:cNvSpPr/>
          <p:nvPr/>
        </p:nvSpPr>
        <p:spPr>
          <a:xfrm>
            <a:off x="502920" y="3337560"/>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1. Vehicle detected in slot (IR = LOW)</a:t>
            </a:r>
            <a:endParaRPr sz="1200" b="0" i="0" u="none" strike="noStrike" cap="none">
              <a:solidFill>
                <a:schemeClr val="dk1"/>
              </a:solidFill>
              <a:latin typeface="Calibri"/>
              <a:ea typeface="Calibri"/>
              <a:cs typeface="Calibri"/>
              <a:sym typeface="Calibri"/>
            </a:endParaRPr>
          </a:p>
        </p:txBody>
      </p:sp>
      <p:sp>
        <p:nvSpPr>
          <p:cNvPr id="204" name="Google Shape;204;p11"/>
          <p:cNvSpPr/>
          <p:nvPr/>
        </p:nvSpPr>
        <p:spPr>
          <a:xfrm>
            <a:off x="502920" y="3776472"/>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2. Relay module energizes → charging begins</a:t>
            </a:r>
            <a:endParaRPr sz="1200" b="0" i="0" u="none" strike="noStrike" cap="none">
              <a:solidFill>
                <a:schemeClr val="dk1"/>
              </a:solidFill>
              <a:latin typeface="Calibri"/>
              <a:ea typeface="Calibri"/>
              <a:cs typeface="Calibri"/>
              <a:sym typeface="Calibri"/>
            </a:endParaRPr>
          </a:p>
        </p:txBody>
      </p:sp>
      <p:sp>
        <p:nvSpPr>
          <p:cNvPr id="205" name="Google Shape;205;p11"/>
          <p:cNvSpPr/>
          <p:nvPr/>
        </p:nvSpPr>
        <p:spPr>
          <a:xfrm>
            <a:off x="502920" y="4215384"/>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3. Counter simulates battery % increment</a:t>
            </a:r>
            <a:endParaRPr sz="1200" b="0" i="0" u="none" strike="noStrike" cap="none">
              <a:solidFill>
                <a:schemeClr val="dk1"/>
              </a:solidFill>
              <a:latin typeface="Calibri"/>
              <a:ea typeface="Calibri"/>
              <a:cs typeface="Calibri"/>
              <a:sym typeface="Calibri"/>
            </a:endParaRPr>
          </a:p>
        </p:txBody>
      </p:sp>
      <p:sp>
        <p:nvSpPr>
          <p:cNvPr id="206" name="Google Shape;206;p11"/>
          <p:cNvSpPr/>
          <p:nvPr/>
        </p:nvSpPr>
        <p:spPr>
          <a:xfrm>
            <a:off x="4846320" y="2880360"/>
            <a:ext cx="4206240" cy="1874520"/>
          </a:xfrm>
          <a:prstGeom prst="rect">
            <a:avLst/>
          </a:prstGeom>
          <a:solidFill>
            <a:srgbClr val="F5EDE0"/>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a:off x="4846320" y="2880360"/>
            <a:ext cx="4206240" cy="384048"/>
          </a:xfrm>
          <a:prstGeom prst="rect">
            <a:avLst/>
          </a:prstGeom>
          <a:solidFill>
            <a:srgbClr val="8B5E3C"/>
          </a:solidFill>
          <a:ln w="12700" cap="flat" cmpd="sng">
            <a:solidFill>
              <a:srgbClr val="8B5E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1"/>
          <p:cNvSpPr/>
          <p:nvPr/>
        </p:nvSpPr>
        <p:spPr>
          <a:xfrm>
            <a:off x="4983480" y="2916936"/>
            <a:ext cx="393192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Times New Roman"/>
              <a:buNone/>
            </a:pPr>
            <a:r>
              <a:rPr lang="en-US" sz="1300" b="1" i="0" u="none" strike="noStrike" cap="none">
                <a:solidFill>
                  <a:srgbClr val="FFFFFF"/>
                </a:solidFill>
                <a:latin typeface="Times New Roman"/>
                <a:ea typeface="Times New Roman"/>
                <a:cs typeface="Times New Roman"/>
                <a:sym typeface="Times New Roman"/>
              </a:rPr>
              <a:t>Temperature Safety &amp; Auto-Stop</a:t>
            </a:r>
            <a:endParaRPr sz="1300" b="0" i="0" u="none" strike="noStrike" cap="none">
              <a:solidFill>
                <a:schemeClr val="dk1"/>
              </a:solidFill>
              <a:latin typeface="Calibri"/>
              <a:ea typeface="Calibri"/>
              <a:cs typeface="Calibri"/>
              <a:sym typeface="Calibri"/>
            </a:endParaRPr>
          </a:p>
        </p:txBody>
      </p:sp>
      <p:sp>
        <p:nvSpPr>
          <p:cNvPr id="209" name="Google Shape;209;p11"/>
          <p:cNvSpPr/>
          <p:nvPr/>
        </p:nvSpPr>
        <p:spPr>
          <a:xfrm>
            <a:off x="4983480" y="3337560"/>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1. DHT11 reads temperature </a:t>
            </a:r>
            <a:endParaRPr sz="1200" b="0" i="0" u="none" strike="noStrike" cap="none">
              <a:solidFill>
                <a:schemeClr val="dk1"/>
              </a:solidFill>
              <a:latin typeface="Calibri"/>
              <a:ea typeface="Calibri"/>
              <a:cs typeface="Calibri"/>
              <a:sym typeface="Calibri"/>
            </a:endParaRPr>
          </a:p>
        </p:txBody>
      </p:sp>
      <p:sp>
        <p:nvSpPr>
          <p:cNvPr id="210" name="Google Shape;210;p11"/>
          <p:cNvSpPr/>
          <p:nvPr/>
        </p:nvSpPr>
        <p:spPr>
          <a:xfrm>
            <a:off x="4983480" y="3776472"/>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2. If temp &gt; threshold → relay de-energizes</a:t>
            </a:r>
            <a:endParaRPr sz="1200" b="0" i="0" u="none" strike="noStrike" cap="none">
              <a:solidFill>
                <a:schemeClr val="dk1"/>
              </a:solidFill>
              <a:latin typeface="Calibri"/>
              <a:ea typeface="Calibri"/>
              <a:cs typeface="Calibri"/>
              <a:sym typeface="Calibri"/>
            </a:endParaRPr>
          </a:p>
        </p:txBody>
      </p:sp>
      <p:sp>
        <p:nvSpPr>
          <p:cNvPr id="211" name="Google Shape;211;p11"/>
          <p:cNvSpPr/>
          <p:nvPr/>
        </p:nvSpPr>
        <p:spPr>
          <a:xfrm>
            <a:off x="4983480" y="4215384"/>
            <a:ext cx="393192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200" b="0" i="0" u="none" strike="noStrike" cap="none">
                <a:solidFill>
                  <a:srgbClr val="5C3D2E"/>
                </a:solidFill>
                <a:latin typeface="Times New Roman"/>
                <a:ea typeface="Times New Roman"/>
                <a:cs typeface="Times New Roman"/>
                <a:sym typeface="Times New Roman"/>
              </a:rPr>
              <a:t>3. Also stops at 100% charge automatically</a:t>
            </a:r>
            <a:endParaRPr sz="1200" b="0" i="0" u="none" strike="noStrike" cap="none">
              <a:solidFill>
                <a:schemeClr val="dk1"/>
              </a:solidFill>
              <a:latin typeface="Calibri"/>
              <a:ea typeface="Calibri"/>
              <a:cs typeface="Calibri"/>
              <a:sym typeface="Calibri"/>
            </a:endParaRPr>
          </a:p>
        </p:txBody>
      </p:sp>
      <p:sp>
        <p:nvSpPr>
          <p:cNvPr id="212" name="Google Shape;212;p11"/>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217"/>
        <p:cNvGrpSpPr/>
        <p:nvPr/>
      </p:nvGrpSpPr>
      <p:grpSpPr>
        <a:xfrm>
          <a:off x="0" y="0"/>
          <a:ext cx="0" cy="0"/>
          <a:chOff x="0" y="0"/>
          <a:chExt cx="0" cy="0"/>
        </a:xfrm>
      </p:grpSpPr>
      <p:sp>
        <p:nvSpPr>
          <p:cNvPr id="218" name="Google Shape;218;p12"/>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2"/>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000"/>
              <a:buFont typeface="Georgia"/>
              <a:buNone/>
            </a:pPr>
            <a:r>
              <a:rPr lang="en-US" sz="2000" b="1" i="0" u="none" strike="noStrike" cap="none">
                <a:solidFill>
                  <a:srgbClr val="C4956A"/>
                </a:solidFill>
                <a:latin typeface="Georgia"/>
                <a:ea typeface="Georgia"/>
                <a:cs typeface="Georgia"/>
                <a:sym typeface="Georgia"/>
              </a:rPr>
              <a:t>PROPOSED SYSTEM — SYSTEM ARCHITECTURE</a:t>
            </a:r>
            <a:endParaRPr sz="2000" b="0" i="0" u="none" strike="noStrike" cap="none">
              <a:solidFill>
                <a:schemeClr val="dk1"/>
              </a:solidFill>
              <a:latin typeface="Calibri"/>
              <a:ea typeface="Calibri"/>
              <a:cs typeface="Calibri"/>
              <a:sym typeface="Calibri"/>
            </a:endParaRPr>
          </a:p>
        </p:txBody>
      </p:sp>
      <p:sp>
        <p:nvSpPr>
          <p:cNvPr id="220" name="Google Shape;220;p12"/>
          <p:cNvSpPr/>
          <p:nvPr/>
        </p:nvSpPr>
        <p:spPr>
          <a:xfrm>
            <a:off x="274320" y="1005840"/>
            <a:ext cx="1371600" cy="822960"/>
          </a:xfrm>
          <a:prstGeom prst="rect">
            <a:avLst/>
          </a:prstGeom>
          <a:solidFill>
            <a:srgbClr val="8B5E3C"/>
          </a:solidFill>
          <a:ln w="12700" cap="flat" cmpd="sng">
            <a:solidFill>
              <a:srgbClr val="C4956A"/>
            </a:solidFill>
            <a:prstDash val="solid"/>
            <a:round/>
            <a:headEnd type="none" w="sm" len="sm"/>
            <a:tailEnd type="none" w="sm" len="sm"/>
          </a:ln>
          <a:effectLst>
            <a:outerShdw blurRad="381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2"/>
          <p:cNvSpPr/>
          <p:nvPr/>
        </p:nvSpPr>
        <p:spPr>
          <a:xfrm>
            <a:off x="274320" y="100584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RFID Card</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Scan</a:t>
            </a:r>
            <a:endParaRPr sz="1100" b="0" i="0" u="none" strike="noStrike" cap="none">
              <a:solidFill>
                <a:schemeClr val="dk1"/>
              </a:solidFill>
              <a:latin typeface="Calibri"/>
              <a:ea typeface="Calibri"/>
              <a:cs typeface="Calibri"/>
              <a:sym typeface="Calibri"/>
            </a:endParaRPr>
          </a:p>
        </p:txBody>
      </p:sp>
      <p:cxnSp>
        <p:nvCxnSpPr>
          <p:cNvPr id="222" name="Google Shape;222;p12"/>
          <p:cNvCxnSpPr/>
          <p:nvPr/>
        </p:nvCxnSpPr>
        <p:spPr>
          <a:xfrm>
            <a:off x="1645920" y="1417320"/>
            <a:ext cx="365760" cy="0"/>
          </a:xfrm>
          <a:prstGeom prst="straightConnector1">
            <a:avLst/>
          </a:prstGeom>
          <a:noFill/>
          <a:ln w="25400" cap="flat" cmpd="sng">
            <a:solidFill>
              <a:srgbClr val="C4956A"/>
            </a:solidFill>
            <a:prstDash val="solid"/>
            <a:round/>
            <a:headEnd type="none" w="sm" len="sm"/>
            <a:tailEnd type="none" w="sm" len="sm"/>
          </a:ln>
        </p:spPr>
      </p:cxnSp>
      <p:sp>
        <p:nvSpPr>
          <p:cNvPr id="223" name="Google Shape;223;p12"/>
          <p:cNvSpPr/>
          <p:nvPr/>
        </p:nvSpPr>
        <p:spPr>
          <a:xfrm>
            <a:off x="2011680" y="1005840"/>
            <a:ext cx="1371600" cy="822960"/>
          </a:xfrm>
          <a:prstGeom prst="rect">
            <a:avLst/>
          </a:prstGeom>
          <a:solidFill>
            <a:srgbClr val="3D2B1F"/>
          </a:solidFill>
          <a:ln w="12700" cap="flat" cmpd="sng">
            <a:solidFill>
              <a:srgbClr val="C4956A"/>
            </a:solidFill>
            <a:prstDash val="solid"/>
            <a:round/>
            <a:headEnd type="none" w="sm" len="sm"/>
            <a:tailEnd type="none" w="sm" len="sm"/>
          </a:ln>
          <a:effectLst>
            <a:outerShdw blurRad="381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2"/>
          <p:cNvSpPr/>
          <p:nvPr/>
        </p:nvSpPr>
        <p:spPr>
          <a:xfrm>
            <a:off x="2011680" y="100584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ESP32</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Controller</a:t>
            </a:r>
            <a:endParaRPr sz="1100" b="0" i="0" u="none" strike="noStrike" cap="none">
              <a:solidFill>
                <a:schemeClr val="dk1"/>
              </a:solidFill>
              <a:latin typeface="Calibri"/>
              <a:ea typeface="Calibri"/>
              <a:cs typeface="Calibri"/>
              <a:sym typeface="Calibri"/>
            </a:endParaRPr>
          </a:p>
        </p:txBody>
      </p:sp>
      <p:cxnSp>
        <p:nvCxnSpPr>
          <p:cNvPr id="225" name="Google Shape;225;p12"/>
          <p:cNvCxnSpPr/>
          <p:nvPr/>
        </p:nvCxnSpPr>
        <p:spPr>
          <a:xfrm>
            <a:off x="3383280" y="1417320"/>
            <a:ext cx="365760" cy="0"/>
          </a:xfrm>
          <a:prstGeom prst="straightConnector1">
            <a:avLst/>
          </a:prstGeom>
          <a:noFill/>
          <a:ln w="25400" cap="flat" cmpd="sng">
            <a:solidFill>
              <a:srgbClr val="C4956A"/>
            </a:solidFill>
            <a:prstDash val="solid"/>
            <a:round/>
            <a:headEnd type="none" w="sm" len="sm"/>
            <a:tailEnd type="none" w="sm" len="sm"/>
          </a:ln>
        </p:spPr>
      </p:cxnSp>
      <p:sp>
        <p:nvSpPr>
          <p:cNvPr id="226" name="Google Shape;226;p12"/>
          <p:cNvSpPr/>
          <p:nvPr/>
        </p:nvSpPr>
        <p:spPr>
          <a:xfrm>
            <a:off x="3749040" y="1005840"/>
            <a:ext cx="1371600" cy="822960"/>
          </a:xfrm>
          <a:prstGeom prst="rect">
            <a:avLst/>
          </a:prstGeom>
          <a:solidFill>
            <a:srgbClr val="8B5E3C"/>
          </a:solidFill>
          <a:ln w="12700" cap="flat" cmpd="sng">
            <a:solidFill>
              <a:srgbClr val="C4956A"/>
            </a:solidFill>
            <a:prstDash val="solid"/>
            <a:round/>
            <a:headEnd type="none" w="sm" len="sm"/>
            <a:tailEnd type="none" w="sm" len="sm"/>
          </a:ln>
          <a:effectLst>
            <a:outerShdw blurRad="381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2"/>
          <p:cNvSpPr/>
          <p:nvPr/>
        </p:nvSpPr>
        <p:spPr>
          <a:xfrm>
            <a:off x="3749040" y="100584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IR Sensor</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Slot Check</a:t>
            </a:r>
            <a:endParaRPr sz="1100" b="0" i="0" u="none" strike="noStrike" cap="none">
              <a:solidFill>
                <a:schemeClr val="dk1"/>
              </a:solidFill>
              <a:latin typeface="Calibri"/>
              <a:ea typeface="Calibri"/>
              <a:cs typeface="Calibri"/>
              <a:sym typeface="Calibri"/>
            </a:endParaRPr>
          </a:p>
        </p:txBody>
      </p:sp>
      <p:cxnSp>
        <p:nvCxnSpPr>
          <p:cNvPr id="228" name="Google Shape;228;p12"/>
          <p:cNvCxnSpPr/>
          <p:nvPr/>
        </p:nvCxnSpPr>
        <p:spPr>
          <a:xfrm>
            <a:off x="5120640" y="1417320"/>
            <a:ext cx="365760" cy="0"/>
          </a:xfrm>
          <a:prstGeom prst="straightConnector1">
            <a:avLst/>
          </a:prstGeom>
          <a:noFill/>
          <a:ln w="25400" cap="flat" cmpd="sng">
            <a:solidFill>
              <a:srgbClr val="C4956A"/>
            </a:solidFill>
            <a:prstDash val="solid"/>
            <a:round/>
            <a:headEnd type="none" w="sm" len="sm"/>
            <a:tailEnd type="none" w="sm" len="sm"/>
          </a:ln>
        </p:spPr>
      </p:cxnSp>
      <p:sp>
        <p:nvSpPr>
          <p:cNvPr id="229" name="Google Shape;229;p12"/>
          <p:cNvSpPr/>
          <p:nvPr/>
        </p:nvSpPr>
        <p:spPr>
          <a:xfrm>
            <a:off x="5486400" y="1005840"/>
            <a:ext cx="1371600" cy="822960"/>
          </a:xfrm>
          <a:prstGeom prst="rect">
            <a:avLst/>
          </a:prstGeom>
          <a:solidFill>
            <a:srgbClr val="8B5E3C"/>
          </a:solidFill>
          <a:ln w="12700" cap="flat" cmpd="sng">
            <a:solidFill>
              <a:srgbClr val="C4956A"/>
            </a:solidFill>
            <a:prstDash val="solid"/>
            <a:round/>
            <a:headEnd type="none" w="sm" len="sm"/>
            <a:tailEnd type="none" w="sm" len="sm"/>
          </a:ln>
          <a:effectLst>
            <a:outerShdw blurRad="381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2"/>
          <p:cNvSpPr/>
          <p:nvPr/>
        </p:nvSpPr>
        <p:spPr>
          <a:xfrm>
            <a:off x="5486400" y="100584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Servo Gate</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Opens</a:t>
            </a:r>
            <a:endParaRPr sz="1100" b="0" i="0" u="none" strike="noStrike" cap="none">
              <a:solidFill>
                <a:schemeClr val="dk1"/>
              </a:solidFill>
              <a:latin typeface="Calibri"/>
              <a:ea typeface="Calibri"/>
              <a:cs typeface="Calibri"/>
              <a:sym typeface="Calibri"/>
            </a:endParaRPr>
          </a:p>
        </p:txBody>
      </p:sp>
      <p:cxnSp>
        <p:nvCxnSpPr>
          <p:cNvPr id="231" name="Google Shape;231;p12"/>
          <p:cNvCxnSpPr/>
          <p:nvPr/>
        </p:nvCxnSpPr>
        <p:spPr>
          <a:xfrm>
            <a:off x="6858000" y="1417320"/>
            <a:ext cx="365760" cy="0"/>
          </a:xfrm>
          <a:prstGeom prst="straightConnector1">
            <a:avLst/>
          </a:prstGeom>
          <a:noFill/>
          <a:ln w="25400" cap="flat" cmpd="sng">
            <a:solidFill>
              <a:srgbClr val="C4956A"/>
            </a:solidFill>
            <a:prstDash val="solid"/>
            <a:round/>
            <a:headEnd type="none" w="sm" len="sm"/>
            <a:tailEnd type="none" w="sm" len="sm"/>
          </a:ln>
        </p:spPr>
      </p:cxnSp>
      <p:sp>
        <p:nvSpPr>
          <p:cNvPr id="232" name="Google Shape;232;p12"/>
          <p:cNvSpPr/>
          <p:nvPr/>
        </p:nvSpPr>
        <p:spPr>
          <a:xfrm>
            <a:off x="7223760" y="1005840"/>
            <a:ext cx="1554480" cy="822960"/>
          </a:xfrm>
          <a:prstGeom prst="rect">
            <a:avLst/>
          </a:prstGeom>
          <a:solidFill>
            <a:srgbClr val="8B5E3C"/>
          </a:solidFill>
          <a:ln w="12700" cap="flat" cmpd="sng">
            <a:solidFill>
              <a:srgbClr val="C4956A"/>
            </a:solidFill>
            <a:prstDash val="solid"/>
            <a:round/>
            <a:headEnd type="none" w="sm" len="sm"/>
            <a:tailEnd type="none" w="sm" len="sm"/>
          </a:ln>
          <a:effectLst>
            <a:outerShdw blurRad="38100" dist="25400" dir="8100000" algn="bl" rotWithShape="0">
              <a:srgbClr val="000000">
                <a:alpha val="1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2"/>
          <p:cNvSpPr/>
          <p:nvPr/>
        </p:nvSpPr>
        <p:spPr>
          <a:xfrm>
            <a:off x="7223760" y="1005840"/>
            <a:ext cx="155448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Slot</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Assigned</a:t>
            </a:r>
            <a:endParaRPr sz="1100" b="0" i="0" u="none" strike="noStrike" cap="none">
              <a:solidFill>
                <a:schemeClr val="dk1"/>
              </a:solidFill>
              <a:latin typeface="Calibri"/>
              <a:ea typeface="Calibri"/>
              <a:cs typeface="Calibri"/>
              <a:sym typeface="Calibri"/>
            </a:endParaRPr>
          </a:p>
        </p:txBody>
      </p:sp>
      <p:sp>
        <p:nvSpPr>
          <p:cNvPr id="234" name="Google Shape;234;p12"/>
          <p:cNvSpPr/>
          <p:nvPr/>
        </p:nvSpPr>
        <p:spPr>
          <a:xfrm>
            <a:off x="274320" y="2286000"/>
            <a:ext cx="1371600" cy="822960"/>
          </a:xfrm>
          <a:prstGeom prst="rect">
            <a:avLst/>
          </a:prstGeom>
          <a:solidFill>
            <a:srgbClr val="A0714F"/>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2"/>
          <p:cNvSpPr/>
          <p:nvPr/>
        </p:nvSpPr>
        <p:spPr>
          <a:xfrm>
            <a:off x="274320" y="2286000"/>
            <a:ext cx="1371600" cy="822960"/>
          </a:xfrm>
          <a:prstGeom prst="rect">
            <a:avLst/>
          </a:prstGeom>
          <a:noFill/>
          <a:ln>
            <a:noFill/>
          </a:ln>
        </p:spPr>
        <p:txBody>
          <a:bodyPr spcFirstLastPara="1" wrap="square" lIns="38100" tIns="38100" rIns="38100" bIns="38100" anchor="ctr" anchorCtr="0">
            <a:noAutofit/>
          </a:bodyPr>
          <a:lstStyle/>
          <a:p>
            <a:pPr marL="0" lvl="0" indent="0" algn="l" rtl="0">
              <a:spcBef>
                <a:spcPts val="0"/>
              </a:spcBef>
              <a:spcAft>
                <a:spcPts val="0"/>
              </a:spcAft>
              <a:buClr>
                <a:schemeClr val="lt1"/>
              </a:buClr>
              <a:buSzPts val="1100"/>
              <a:buFont typeface="Times New Roman"/>
              <a:buNone/>
            </a:pPr>
            <a:r>
              <a:rPr lang="en-US" sz="1100" b="1">
                <a:solidFill>
                  <a:schemeClr val="lt1"/>
                </a:solidFill>
                <a:latin typeface="Times New Roman"/>
                <a:ea typeface="Times New Roman"/>
                <a:cs typeface="Times New Roman"/>
                <a:sym typeface="Times New Roman"/>
              </a:rPr>
              <a:t>         </a:t>
            </a:r>
            <a:endParaRPr sz="1100" b="1">
              <a:solidFill>
                <a:schemeClr val="lt1"/>
              </a:solidFill>
              <a:latin typeface="Times New Roman"/>
              <a:ea typeface="Times New Roman"/>
              <a:cs typeface="Times New Roman"/>
              <a:sym typeface="Times New Roman"/>
            </a:endParaRPr>
          </a:p>
          <a:p>
            <a:pPr marL="0" lvl="0" indent="0" algn="l" rtl="0">
              <a:spcBef>
                <a:spcPts val="0"/>
              </a:spcBef>
              <a:spcAft>
                <a:spcPts val="0"/>
              </a:spcAft>
              <a:buClr>
                <a:schemeClr val="lt1"/>
              </a:buClr>
              <a:buSzPts val="1100"/>
              <a:buFont typeface="Times New Roman"/>
              <a:buNone/>
            </a:pPr>
            <a:r>
              <a:rPr lang="en-US" sz="1100" b="1">
                <a:solidFill>
                  <a:schemeClr val="lt1"/>
                </a:solidFill>
                <a:latin typeface="Times New Roman"/>
                <a:ea typeface="Times New Roman"/>
                <a:cs typeface="Times New Roman"/>
                <a:sym typeface="Times New Roman"/>
              </a:rPr>
              <a:t>         Dashboard</a:t>
            </a:r>
            <a:endParaRPr sz="1100">
              <a:solidFill>
                <a:schemeClr val="dk1"/>
              </a:solidFill>
              <a:latin typeface="Calibri"/>
              <a:ea typeface="Calibri"/>
              <a:cs typeface="Calibri"/>
              <a:sym typeface="Calibri"/>
            </a:endParaRPr>
          </a:p>
          <a:p>
            <a:pPr marL="0" lvl="0" indent="0" algn="ctr" rtl="0">
              <a:spcBef>
                <a:spcPts val="0"/>
              </a:spcBef>
              <a:spcAft>
                <a:spcPts val="0"/>
              </a:spcAft>
              <a:buClr>
                <a:schemeClr val="lt1"/>
              </a:buClr>
              <a:buSzPts val="1100"/>
              <a:buFont typeface="Times New Roman"/>
              <a:buNone/>
            </a:pPr>
            <a:r>
              <a:rPr lang="en-US" sz="1100" b="1">
                <a:solidFill>
                  <a:schemeClr val="lt1"/>
                </a:solidFill>
                <a:latin typeface="Times New Roman"/>
                <a:ea typeface="Times New Roman"/>
                <a:cs typeface="Times New Roman"/>
                <a:sym typeface="Times New Roman"/>
              </a:rPr>
              <a:t>Updated</a:t>
            </a:r>
            <a:endParaRPr sz="1100">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endParaRPr sz="1100" b="1">
              <a:solidFill>
                <a:srgbClr val="FFFFFF"/>
              </a:solidFill>
              <a:latin typeface="Times New Roman"/>
              <a:ea typeface="Times New Roman"/>
              <a:cs typeface="Times New Roman"/>
              <a:sym typeface="Times New Roman"/>
            </a:endParaRPr>
          </a:p>
        </p:txBody>
      </p:sp>
      <p:cxnSp>
        <p:nvCxnSpPr>
          <p:cNvPr id="236" name="Google Shape;236;p12"/>
          <p:cNvCxnSpPr/>
          <p:nvPr/>
        </p:nvCxnSpPr>
        <p:spPr>
          <a:xfrm>
            <a:off x="1645920" y="2697480"/>
            <a:ext cx="640080" cy="0"/>
          </a:xfrm>
          <a:prstGeom prst="straightConnector1">
            <a:avLst/>
          </a:prstGeom>
          <a:noFill/>
          <a:ln w="25400" cap="flat" cmpd="sng">
            <a:solidFill>
              <a:srgbClr val="C4956A"/>
            </a:solidFill>
            <a:prstDash val="solid"/>
            <a:round/>
            <a:headEnd type="none" w="sm" len="sm"/>
            <a:tailEnd type="none" w="sm" len="sm"/>
          </a:ln>
        </p:spPr>
      </p:cxnSp>
      <p:sp>
        <p:nvSpPr>
          <p:cNvPr id="237" name="Google Shape;237;p12"/>
          <p:cNvSpPr/>
          <p:nvPr/>
        </p:nvSpPr>
        <p:spPr>
          <a:xfrm>
            <a:off x="2011680" y="2286000"/>
            <a:ext cx="1371600" cy="822960"/>
          </a:xfrm>
          <a:prstGeom prst="rect">
            <a:avLst/>
          </a:prstGeom>
          <a:solidFill>
            <a:srgbClr val="A0714F"/>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2"/>
          <p:cNvSpPr/>
          <p:nvPr/>
        </p:nvSpPr>
        <p:spPr>
          <a:xfrm>
            <a:off x="2011680" y="2286000"/>
            <a:ext cx="1371600" cy="822960"/>
          </a:xfrm>
          <a:prstGeom prst="rect">
            <a:avLst/>
          </a:prstGeom>
          <a:noFill/>
          <a:ln>
            <a:noFill/>
          </a:ln>
        </p:spPr>
        <p:txBody>
          <a:bodyPr spcFirstLastPara="1" wrap="square" lIns="38100" tIns="38100" rIns="38100" bIns="38100" anchor="ctr" anchorCtr="0">
            <a:noAutofit/>
          </a:bodyPr>
          <a:lstStyle/>
          <a:p>
            <a:pPr marL="0" lvl="0" indent="0" algn="ctr" rtl="0">
              <a:spcBef>
                <a:spcPts val="0"/>
              </a:spcBef>
              <a:spcAft>
                <a:spcPts val="0"/>
              </a:spcAft>
              <a:buClr>
                <a:schemeClr val="lt1"/>
              </a:buClr>
              <a:buSzPts val="1100"/>
              <a:buFont typeface="Times New Roman"/>
              <a:buNone/>
            </a:pPr>
            <a:r>
              <a:rPr lang="en-US" sz="1100" b="1">
                <a:solidFill>
                  <a:schemeClr val="lt1"/>
                </a:solidFill>
                <a:latin typeface="Times New Roman"/>
                <a:ea typeface="Times New Roman"/>
                <a:cs typeface="Times New Roman"/>
                <a:sym typeface="Times New Roman"/>
              </a:rPr>
              <a:t>DHT11</a:t>
            </a:r>
            <a:endParaRPr sz="1100">
              <a:solidFill>
                <a:schemeClr val="dk1"/>
              </a:solidFill>
              <a:latin typeface="Calibri"/>
              <a:ea typeface="Calibri"/>
              <a:cs typeface="Calibri"/>
              <a:sym typeface="Calibri"/>
            </a:endParaRPr>
          </a:p>
          <a:p>
            <a:pPr marL="0" lvl="0" indent="0" algn="ctr" rtl="0">
              <a:spcBef>
                <a:spcPts val="0"/>
              </a:spcBef>
              <a:spcAft>
                <a:spcPts val="0"/>
              </a:spcAft>
              <a:buClr>
                <a:schemeClr val="lt1"/>
              </a:buClr>
              <a:buSzPts val="1100"/>
              <a:buFont typeface="Times New Roman"/>
              <a:buNone/>
            </a:pPr>
            <a:r>
              <a:rPr lang="en-US" sz="1100" b="1">
                <a:solidFill>
                  <a:schemeClr val="lt1"/>
                </a:solidFill>
                <a:latin typeface="Times New Roman"/>
                <a:ea typeface="Times New Roman"/>
                <a:cs typeface="Times New Roman"/>
                <a:sym typeface="Times New Roman"/>
              </a:rPr>
              <a:t>Monitors Temp</a:t>
            </a:r>
            <a:endParaRPr sz="1100">
              <a:solidFill>
                <a:schemeClr val="dk1"/>
              </a:solidFill>
              <a:latin typeface="Calibri"/>
              <a:ea typeface="Calibri"/>
              <a:cs typeface="Calibri"/>
              <a:sym typeface="Calibri"/>
            </a:endParaRPr>
          </a:p>
        </p:txBody>
      </p:sp>
      <p:cxnSp>
        <p:nvCxnSpPr>
          <p:cNvPr id="239" name="Google Shape;239;p12"/>
          <p:cNvCxnSpPr/>
          <p:nvPr/>
        </p:nvCxnSpPr>
        <p:spPr>
          <a:xfrm>
            <a:off x="3383280" y="2697480"/>
            <a:ext cx="640080" cy="0"/>
          </a:xfrm>
          <a:prstGeom prst="straightConnector1">
            <a:avLst/>
          </a:prstGeom>
          <a:noFill/>
          <a:ln w="25400" cap="flat" cmpd="sng">
            <a:solidFill>
              <a:srgbClr val="C4956A"/>
            </a:solidFill>
            <a:prstDash val="solid"/>
            <a:round/>
            <a:headEnd type="none" w="sm" len="sm"/>
            <a:tailEnd type="none" w="sm" len="sm"/>
          </a:ln>
        </p:spPr>
      </p:cxnSp>
      <p:sp>
        <p:nvSpPr>
          <p:cNvPr id="240" name="Google Shape;240;p12"/>
          <p:cNvSpPr/>
          <p:nvPr/>
        </p:nvSpPr>
        <p:spPr>
          <a:xfrm>
            <a:off x="3749040" y="2286000"/>
            <a:ext cx="1371600" cy="822960"/>
          </a:xfrm>
          <a:prstGeom prst="rect">
            <a:avLst/>
          </a:prstGeom>
          <a:solidFill>
            <a:srgbClr val="3D2B1F"/>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2"/>
          <p:cNvSpPr/>
          <p:nvPr/>
        </p:nvSpPr>
        <p:spPr>
          <a:xfrm>
            <a:off x="3749040" y="228600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Relay Starts</a:t>
            </a:r>
            <a:endParaRPr sz="11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FFFFF"/>
              </a:buClr>
              <a:buSzPts val="1100"/>
              <a:buFont typeface="Times New Roman"/>
              <a:buNone/>
            </a:pPr>
            <a:r>
              <a:rPr lang="en-US" sz="1100" b="1" i="0" u="none" strike="noStrike" cap="none">
                <a:solidFill>
                  <a:srgbClr val="FFFFFF"/>
                </a:solidFill>
                <a:latin typeface="Times New Roman"/>
                <a:ea typeface="Times New Roman"/>
                <a:cs typeface="Times New Roman"/>
                <a:sym typeface="Times New Roman"/>
              </a:rPr>
              <a:t>Charging</a:t>
            </a:r>
            <a:endParaRPr sz="1100" b="0" i="0" u="none" strike="noStrike" cap="none">
              <a:solidFill>
                <a:schemeClr val="dk1"/>
              </a:solidFill>
              <a:latin typeface="Calibri"/>
              <a:ea typeface="Calibri"/>
              <a:cs typeface="Calibri"/>
              <a:sym typeface="Calibri"/>
            </a:endParaRPr>
          </a:p>
        </p:txBody>
      </p:sp>
      <p:cxnSp>
        <p:nvCxnSpPr>
          <p:cNvPr id="242" name="Google Shape;242;p12"/>
          <p:cNvCxnSpPr/>
          <p:nvPr/>
        </p:nvCxnSpPr>
        <p:spPr>
          <a:xfrm>
            <a:off x="5120640" y="2697480"/>
            <a:ext cx="640080" cy="0"/>
          </a:xfrm>
          <a:prstGeom prst="straightConnector1">
            <a:avLst/>
          </a:prstGeom>
          <a:noFill/>
          <a:ln w="25400" cap="flat" cmpd="sng">
            <a:solidFill>
              <a:srgbClr val="C4956A"/>
            </a:solidFill>
            <a:prstDash val="solid"/>
            <a:round/>
            <a:headEnd type="none" w="sm" len="sm"/>
            <a:tailEnd type="none" w="sm" len="sm"/>
          </a:ln>
        </p:spPr>
      </p:cxnSp>
      <p:sp>
        <p:nvSpPr>
          <p:cNvPr id="243" name="Google Shape;243;p12"/>
          <p:cNvSpPr/>
          <p:nvPr/>
        </p:nvSpPr>
        <p:spPr>
          <a:xfrm>
            <a:off x="5486400" y="2286000"/>
            <a:ext cx="1371600" cy="822960"/>
          </a:xfrm>
          <a:prstGeom prst="rect">
            <a:avLst/>
          </a:prstGeom>
          <a:solidFill>
            <a:srgbClr val="A0714F"/>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2"/>
          <p:cNvSpPr/>
          <p:nvPr/>
        </p:nvSpPr>
        <p:spPr>
          <a:xfrm>
            <a:off x="5486400" y="228600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a:solidFill>
                  <a:srgbClr val="FFFFFF"/>
                </a:solidFill>
                <a:latin typeface="Times New Roman"/>
                <a:ea typeface="Times New Roman"/>
                <a:cs typeface="Times New Roman"/>
                <a:sym typeface="Times New Roman"/>
              </a:rPr>
              <a:t>IR Sensor </a:t>
            </a:r>
            <a:endParaRPr sz="1100" b="1">
              <a:solidFill>
                <a:srgbClr val="FFFFFF"/>
              </a:solidFill>
              <a:latin typeface="Times New Roman"/>
              <a:ea typeface="Times New Roman"/>
              <a:cs typeface="Times New Roman"/>
              <a:sym typeface="Times New Roman"/>
            </a:endParaRPr>
          </a:p>
          <a:p>
            <a:pPr marL="0" marR="0" lvl="0" indent="0" algn="ctr" rtl="0">
              <a:spcBef>
                <a:spcPts val="0"/>
              </a:spcBef>
              <a:spcAft>
                <a:spcPts val="0"/>
              </a:spcAft>
              <a:buClr>
                <a:srgbClr val="FFFFFF"/>
              </a:buClr>
              <a:buSzPts val="1100"/>
              <a:buFont typeface="Times New Roman"/>
              <a:buNone/>
            </a:pPr>
            <a:r>
              <a:rPr lang="en-US" sz="1100" b="1">
                <a:solidFill>
                  <a:srgbClr val="FFFFFF"/>
                </a:solidFill>
                <a:latin typeface="Times New Roman"/>
                <a:ea typeface="Times New Roman"/>
                <a:cs typeface="Times New Roman"/>
                <a:sym typeface="Times New Roman"/>
              </a:rPr>
              <a:t>Detects </a:t>
            </a:r>
            <a:endParaRPr sz="1100" b="0" i="0" u="none" strike="noStrike" cap="none">
              <a:solidFill>
                <a:schemeClr val="dk1"/>
              </a:solidFill>
              <a:latin typeface="Calibri"/>
              <a:ea typeface="Calibri"/>
              <a:cs typeface="Calibri"/>
              <a:sym typeface="Calibri"/>
            </a:endParaRPr>
          </a:p>
        </p:txBody>
      </p:sp>
      <p:cxnSp>
        <p:nvCxnSpPr>
          <p:cNvPr id="245" name="Google Shape;245;p12"/>
          <p:cNvCxnSpPr/>
          <p:nvPr/>
        </p:nvCxnSpPr>
        <p:spPr>
          <a:xfrm>
            <a:off x="6858000" y="2697480"/>
            <a:ext cx="640080" cy="0"/>
          </a:xfrm>
          <a:prstGeom prst="straightConnector1">
            <a:avLst/>
          </a:prstGeom>
          <a:noFill/>
          <a:ln w="25400" cap="flat" cmpd="sng">
            <a:solidFill>
              <a:srgbClr val="C4956A"/>
            </a:solidFill>
            <a:prstDash val="solid"/>
            <a:round/>
            <a:headEnd type="none" w="sm" len="sm"/>
            <a:tailEnd type="none" w="sm" len="sm"/>
          </a:ln>
        </p:spPr>
      </p:cxnSp>
      <p:sp>
        <p:nvSpPr>
          <p:cNvPr id="246" name="Google Shape;246;p12"/>
          <p:cNvSpPr/>
          <p:nvPr/>
        </p:nvSpPr>
        <p:spPr>
          <a:xfrm>
            <a:off x="7223760" y="2286000"/>
            <a:ext cx="1371600" cy="822960"/>
          </a:xfrm>
          <a:prstGeom prst="rect">
            <a:avLst/>
          </a:prstGeom>
          <a:solidFill>
            <a:srgbClr val="A0714F"/>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2"/>
          <p:cNvSpPr/>
          <p:nvPr/>
        </p:nvSpPr>
        <p:spPr>
          <a:xfrm>
            <a:off x="7223760" y="2286000"/>
            <a:ext cx="1371600" cy="822960"/>
          </a:xfrm>
          <a:prstGeom prst="rect">
            <a:avLst/>
          </a:prstGeom>
          <a:noFill/>
          <a:ln>
            <a:noFill/>
          </a:ln>
        </p:spPr>
        <p:txBody>
          <a:bodyPr spcFirstLastPara="1" wrap="square" lIns="38100" tIns="38100" rIns="38100" bIns="38100" anchor="ctr" anchorCtr="0">
            <a:noAutofit/>
          </a:bodyPr>
          <a:lstStyle/>
          <a:p>
            <a:pPr marL="0" marR="0" lvl="0" indent="0" algn="ctr" rtl="0">
              <a:spcBef>
                <a:spcPts val="0"/>
              </a:spcBef>
              <a:spcAft>
                <a:spcPts val="0"/>
              </a:spcAft>
              <a:buClr>
                <a:srgbClr val="FFFFFF"/>
              </a:buClr>
              <a:buSzPts val="1100"/>
              <a:buFont typeface="Times New Roman"/>
              <a:buNone/>
            </a:pPr>
            <a:r>
              <a:rPr lang="en-US" sz="1100" b="1">
                <a:solidFill>
                  <a:srgbClr val="FFFFFF"/>
                </a:solidFill>
                <a:latin typeface="Times New Roman"/>
                <a:ea typeface="Times New Roman"/>
                <a:cs typeface="Times New Roman"/>
                <a:sym typeface="Times New Roman"/>
              </a:rPr>
              <a:t>Vehicle </a:t>
            </a:r>
            <a:endParaRPr sz="1100" b="1">
              <a:solidFill>
                <a:srgbClr val="FFFFFF"/>
              </a:solidFill>
              <a:latin typeface="Times New Roman"/>
              <a:ea typeface="Times New Roman"/>
              <a:cs typeface="Times New Roman"/>
              <a:sym typeface="Times New Roman"/>
            </a:endParaRPr>
          </a:p>
          <a:p>
            <a:pPr marL="0" marR="0" lvl="0" indent="0" algn="ctr" rtl="0">
              <a:spcBef>
                <a:spcPts val="0"/>
              </a:spcBef>
              <a:spcAft>
                <a:spcPts val="0"/>
              </a:spcAft>
              <a:buClr>
                <a:srgbClr val="FFFFFF"/>
              </a:buClr>
              <a:buSzPts val="1100"/>
              <a:buFont typeface="Times New Roman"/>
              <a:buNone/>
            </a:pPr>
            <a:r>
              <a:rPr lang="en-US" sz="1100" b="1">
                <a:solidFill>
                  <a:srgbClr val="FFFFFF"/>
                </a:solidFill>
                <a:latin typeface="Times New Roman"/>
                <a:ea typeface="Times New Roman"/>
                <a:cs typeface="Times New Roman"/>
                <a:sym typeface="Times New Roman"/>
              </a:rPr>
              <a:t>Parked </a:t>
            </a:r>
            <a:endParaRPr sz="1100" b="0" i="0" u="none" strike="noStrike" cap="none">
              <a:solidFill>
                <a:schemeClr val="dk1"/>
              </a:solidFill>
              <a:latin typeface="Calibri"/>
              <a:ea typeface="Calibri"/>
              <a:cs typeface="Calibri"/>
              <a:sym typeface="Calibri"/>
            </a:endParaRPr>
          </a:p>
        </p:txBody>
      </p:sp>
      <p:sp>
        <p:nvSpPr>
          <p:cNvPr id="248" name="Google Shape;248;p12"/>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12"/>
          <p:cNvCxnSpPr>
            <a:stCxn id="247" idx="0"/>
            <a:endCxn id="233" idx="2"/>
          </p:cNvCxnSpPr>
          <p:nvPr/>
        </p:nvCxnSpPr>
        <p:spPr>
          <a:xfrm rot="10800000" flipH="1">
            <a:off x="7909560" y="1828800"/>
            <a:ext cx="91500" cy="457200"/>
          </a:xfrm>
          <a:prstGeom prst="straightConnector1">
            <a:avLst/>
          </a:prstGeom>
          <a:noFill/>
          <a:ln w="25400" cap="flat" cmpd="sng">
            <a:solidFill>
              <a:srgbClr val="C4956A"/>
            </a:solidFill>
            <a:prstDash val="solid"/>
            <a:round/>
            <a:headEnd type="none" w="sm" len="sm"/>
            <a:tailEnd type="none" w="sm" len="sm"/>
          </a:ln>
        </p:spPr>
      </p:cxnSp>
      <p:sp>
        <p:nvSpPr>
          <p:cNvPr id="250" name="Google Shape;250;p12"/>
          <p:cNvSpPr txBox="1"/>
          <p:nvPr/>
        </p:nvSpPr>
        <p:spPr>
          <a:xfrm>
            <a:off x="220500" y="3369875"/>
            <a:ext cx="8703000" cy="1545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a:t>The proposed system integrates RFID authentication, automated slot detection, and smart charging control using the ESP32 microcontroller.</a:t>
            </a:r>
            <a:br>
              <a:rPr lang="en-US"/>
            </a:br>
            <a:r>
              <a:rPr lang="en-US"/>
              <a:t>It enables real-time monitoring of parking occupancy, charging status, and system data through a Wi-Fi-based web dashboard.</a:t>
            </a:r>
            <a:endParaRPr/>
          </a:p>
          <a:p>
            <a:pPr marL="0" lvl="0" indent="0" algn="l" rtl="0">
              <a:spcBef>
                <a:spcPts val="12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255"/>
        <p:cNvGrpSpPr/>
        <p:nvPr/>
      </p:nvGrpSpPr>
      <p:grpSpPr>
        <a:xfrm>
          <a:off x="0" y="0"/>
          <a:ext cx="0" cy="0"/>
          <a:chOff x="0" y="0"/>
          <a:chExt cx="0" cy="0"/>
        </a:xfrm>
      </p:grpSpPr>
      <p:sp>
        <p:nvSpPr>
          <p:cNvPr id="256" name="Google Shape;256;p13"/>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3"/>
          <p:cNvSpPr txBox="1"/>
          <p:nvPr/>
        </p:nvSpPr>
        <p:spPr>
          <a:xfrm>
            <a:off x="968175" y="142800"/>
            <a:ext cx="6971100" cy="538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sz="2300" b="1">
                <a:solidFill>
                  <a:srgbClr val="C4956A"/>
                </a:solidFill>
                <a:latin typeface="Georgia"/>
                <a:ea typeface="Georgia"/>
                <a:cs typeface="Georgia"/>
                <a:sym typeface="Georgia"/>
              </a:rPr>
              <a:t>METHODOLOGY</a:t>
            </a:r>
            <a:endParaRPr sz="2300">
              <a:solidFill>
                <a:schemeClr val="dk1"/>
              </a:solidFill>
              <a:latin typeface="Calibri"/>
              <a:ea typeface="Calibri"/>
              <a:cs typeface="Calibri"/>
              <a:sym typeface="Calibri"/>
            </a:endParaRPr>
          </a:p>
        </p:txBody>
      </p:sp>
      <p:sp>
        <p:nvSpPr>
          <p:cNvPr id="258" name="Google Shape;258;p13"/>
          <p:cNvSpPr txBox="1"/>
          <p:nvPr/>
        </p:nvSpPr>
        <p:spPr>
          <a:xfrm>
            <a:off x="3461325" y="968200"/>
            <a:ext cx="1873200" cy="646500"/>
          </a:xfrm>
          <a:prstGeom prst="rect">
            <a:avLst/>
          </a:prstGeom>
          <a:noFill/>
          <a:ln w="9525" cap="flat" cmpd="sng">
            <a:solidFill>
              <a:srgbClr val="000000"/>
            </a:solidFill>
            <a:prstDash val="dashDot"/>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3000" b="1" u="sng">
                <a:solidFill>
                  <a:srgbClr val="5C3D2E"/>
                </a:solidFill>
                <a:latin typeface="Times New Roman"/>
                <a:ea typeface="Times New Roman"/>
                <a:cs typeface="Times New Roman"/>
                <a:sym typeface="Times New Roman"/>
              </a:rPr>
              <a:t>PHASE</a:t>
            </a:r>
            <a:r>
              <a:rPr lang="en-US" sz="3000" u="sng">
                <a:solidFill>
                  <a:srgbClr val="5C3D2E"/>
                </a:solidFill>
                <a:latin typeface="Times New Roman"/>
                <a:ea typeface="Times New Roman"/>
                <a:cs typeface="Times New Roman"/>
                <a:sym typeface="Times New Roman"/>
              </a:rPr>
              <a:t> </a:t>
            </a:r>
            <a:r>
              <a:rPr lang="en-US" sz="3000" b="1" u="sng">
                <a:solidFill>
                  <a:srgbClr val="5C3D2E"/>
                </a:solidFill>
                <a:latin typeface="Times New Roman"/>
                <a:ea typeface="Times New Roman"/>
                <a:cs typeface="Times New Roman"/>
                <a:sym typeface="Times New Roman"/>
              </a:rPr>
              <a:t>1</a:t>
            </a:r>
            <a:endParaRPr sz="3000" b="1" u="sng">
              <a:solidFill>
                <a:srgbClr val="5C3D2E"/>
              </a:solidFill>
              <a:latin typeface="Times New Roman"/>
              <a:ea typeface="Times New Roman"/>
              <a:cs typeface="Times New Roman"/>
              <a:sym typeface="Times New Roman"/>
            </a:endParaRPr>
          </a:p>
        </p:txBody>
      </p:sp>
      <p:sp>
        <p:nvSpPr>
          <p:cNvPr id="259" name="Google Shape;259;p13"/>
          <p:cNvSpPr txBox="1"/>
          <p:nvPr/>
        </p:nvSpPr>
        <p:spPr>
          <a:xfrm>
            <a:off x="533550" y="2487950"/>
            <a:ext cx="8076900" cy="8958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The RFID Enabled Smart EV Parking System was first designed and tested using the Wokwi simulation platform. The simulation helped in verifying RFID authentication, slot detection, automatic gate control, charging logic, relay operation, and real-time sensor responses before implementing the hardware prototype.</a:t>
            </a:r>
            <a:endParaRPr>
              <a:solidFill>
                <a:schemeClr val="dk1"/>
              </a:solidFill>
              <a:latin typeface="Times New Roman"/>
              <a:ea typeface="Times New Roman"/>
              <a:cs typeface="Times New Roman"/>
              <a:sym typeface="Times New Roman"/>
            </a:endParaRPr>
          </a:p>
        </p:txBody>
      </p:sp>
      <p:sp>
        <p:nvSpPr>
          <p:cNvPr id="260" name="Google Shape;260;p13"/>
          <p:cNvSpPr txBox="1"/>
          <p:nvPr/>
        </p:nvSpPr>
        <p:spPr>
          <a:xfrm>
            <a:off x="3554475" y="1705350"/>
            <a:ext cx="1686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u="sng">
                <a:latin typeface="Times New Roman"/>
                <a:ea typeface="Times New Roman"/>
                <a:cs typeface="Times New Roman"/>
                <a:sym typeface="Times New Roman"/>
              </a:rPr>
              <a:t>SIMULATION </a:t>
            </a:r>
            <a:endParaRPr sz="1700" b="1" u="sng">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265"/>
        <p:cNvGrpSpPr/>
        <p:nvPr/>
      </p:nvGrpSpPr>
      <p:grpSpPr>
        <a:xfrm>
          <a:off x="0" y="0"/>
          <a:ext cx="0" cy="0"/>
          <a:chOff x="0" y="0"/>
          <a:chExt cx="0" cy="0"/>
        </a:xfrm>
      </p:grpSpPr>
      <p:pic>
        <p:nvPicPr>
          <p:cNvPr id="266" name="Google Shape;266;p14"/>
          <p:cNvPicPr preferRelativeResize="0"/>
          <p:nvPr/>
        </p:nvPicPr>
        <p:blipFill>
          <a:blip r:embed="rId3">
            <a:alphaModFix/>
          </a:blip>
          <a:stretch>
            <a:fillRect/>
          </a:stretch>
        </p:blipFill>
        <p:spPr>
          <a:xfrm>
            <a:off x="0" y="0"/>
            <a:ext cx="9172550" cy="4883645"/>
          </a:xfrm>
          <a:prstGeom prst="rect">
            <a:avLst/>
          </a:prstGeom>
          <a:solidFill>
            <a:srgbClr val="F5EDE0"/>
          </a:solidFill>
          <a:ln w="12700" cap="flat" cmpd="sng">
            <a:solidFill>
              <a:srgbClr val="C4956A"/>
            </a:solidFill>
            <a:prstDash val="solid"/>
            <a:round/>
            <a:headEnd type="none" w="sm" len="sm"/>
            <a:tailEnd type="none" w="sm" len="sm"/>
          </a:ln>
        </p:spPr>
      </p:pic>
      <p:sp>
        <p:nvSpPr>
          <p:cNvPr id="267" name="Google Shape;267;p14"/>
          <p:cNvSpPr txBox="1"/>
          <p:nvPr/>
        </p:nvSpPr>
        <p:spPr>
          <a:xfrm>
            <a:off x="3206625" y="4811050"/>
            <a:ext cx="3050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fig 1 : Wokwi Simulation Circuit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272"/>
        <p:cNvGrpSpPr/>
        <p:nvPr/>
      </p:nvGrpSpPr>
      <p:grpSpPr>
        <a:xfrm>
          <a:off x="0" y="0"/>
          <a:ext cx="0" cy="0"/>
          <a:chOff x="0" y="0"/>
          <a:chExt cx="0" cy="0"/>
        </a:xfrm>
      </p:grpSpPr>
      <p:sp>
        <p:nvSpPr>
          <p:cNvPr id="273" name="Google Shape;273;p15"/>
          <p:cNvSpPr txBox="1"/>
          <p:nvPr/>
        </p:nvSpPr>
        <p:spPr>
          <a:xfrm>
            <a:off x="3488625" y="183325"/>
            <a:ext cx="1896900" cy="615600"/>
          </a:xfrm>
          <a:prstGeom prst="rect">
            <a:avLst/>
          </a:prstGeom>
          <a:noFill/>
          <a:ln w="9525" cap="flat" cmpd="sng">
            <a:solidFill>
              <a:srgbClr val="000000"/>
            </a:solidFill>
            <a:prstDash val="dashDot"/>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2800" b="1" u="sng">
                <a:solidFill>
                  <a:srgbClr val="5C3D2E"/>
                </a:solidFill>
                <a:latin typeface="Times New Roman"/>
                <a:ea typeface="Times New Roman"/>
                <a:cs typeface="Times New Roman"/>
                <a:sym typeface="Times New Roman"/>
              </a:rPr>
              <a:t>PHASE</a:t>
            </a:r>
            <a:r>
              <a:rPr lang="en-US" sz="2800" u="sng"/>
              <a:t> </a:t>
            </a:r>
            <a:r>
              <a:rPr lang="en-US" sz="2800" b="1" u="sng">
                <a:solidFill>
                  <a:srgbClr val="5C3D2E"/>
                </a:solidFill>
              </a:rPr>
              <a:t>2</a:t>
            </a:r>
            <a:endParaRPr sz="2800" b="1" u="sng">
              <a:solidFill>
                <a:srgbClr val="5C3D2E"/>
              </a:solidFill>
            </a:endParaRPr>
          </a:p>
        </p:txBody>
      </p:sp>
      <p:sp>
        <p:nvSpPr>
          <p:cNvPr id="274" name="Google Shape;274;p15"/>
          <p:cNvSpPr txBox="1"/>
          <p:nvPr/>
        </p:nvSpPr>
        <p:spPr>
          <a:xfrm>
            <a:off x="583050" y="1435950"/>
            <a:ext cx="7977900" cy="36219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RFID Authentication:</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RFID cards are used to authenticate vehicles and allow authorized entry into the parking area.</a:t>
            </a:r>
            <a:endParaRPr>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Slot Detection:</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IR sensors continuously monitor parking slots and detect whether a slot is empty or occupied.</a:t>
            </a:r>
            <a:endParaRPr>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Automatic Gate Control:</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A servo motor automatically opens and closes the gate after successful RFID verification.</a:t>
            </a:r>
            <a:endParaRPr>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Vehicle Detection &amp; Charging:</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Once the vehicle reaches the assigned slot, the relay module initiates the charging process automatically.</a:t>
            </a:r>
            <a:endParaRPr>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Temperature Monitoring:</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The DHT11 sensor monitors temperature conditions during charging for safer operation.</a:t>
            </a:r>
            <a:endParaRPr>
              <a:solidFill>
                <a:schemeClr val="dk1"/>
              </a:solidFill>
              <a:latin typeface="Times New Roman"/>
              <a:ea typeface="Times New Roman"/>
              <a:cs typeface="Times New Roman"/>
              <a:sym typeface="Times New Roman"/>
            </a:endParaRPr>
          </a:p>
          <a:p>
            <a:pPr marL="457200" lvl="0" indent="-317500" algn="l" rtl="0">
              <a:lnSpc>
                <a:spcPct val="115000"/>
              </a:lnSpc>
              <a:spcBef>
                <a:spcPts val="0"/>
              </a:spcBef>
              <a:spcAft>
                <a:spcPts val="0"/>
              </a:spcAft>
              <a:buClr>
                <a:schemeClr val="dk1"/>
              </a:buClr>
              <a:buSzPts val="1400"/>
              <a:buChar char="●"/>
            </a:pPr>
            <a:r>
              <a:rPr lang="en-US" b="1">
                <a:solidFill>
                  <a:schemeClr val="dk1"/>
                </a:solidFill>
                <a:latin typeface="Times New Roman"/>
                <a:ea typeface="Times New Roman"/>
                <a:cs typeface="Times New Roman"/>
                <a:sym typeface="Times New Roman"/>
              </a:rPr>
              <a:t>Real-Time Monitoring:</a:t>
            </a:r>
            <a:br>
              <a:rPr lang="en-US" b="1">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 Firebase and the web dashboard provide live updates of slot status, charging percentage, temperature, and occupancy information.</a:t>
            </a:r>
            <a:endParaRPr>
              <a:solidFill>
                <a:schemeClr val="dk1"/>
              </a:solidFill>
              <a:latin typeface="Times New Roman"/>
              <a:ea typeface="Times New Roman"/>
              <a:cs typeface="Times New Roman"/>
              <a:sym typeface="Times New Roman"/>
            </a:endParaRPr>
          </a:p>
        </p:txBody>
      </p:sp>
      <p:sp>
        <p:nvSpPr>
          <p:cNvPr id="275" name="Google Shape;275;p15"/>
          <p:cNvSpPr txBox="1"/>
          <p:nvPr/>
        </p:nvSpPr>
        <p:spPr>
          <a:xfrm>
            <a:off x="3289125" y="894238"/>
            <a:ext cx="22959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b="1" u="sng">
                <a:latin typeface="Times New Roman"/>
                <a:ea typeface="Times New Roman"/>
                <a:cs typeface="Times New Roman"/>
                <a:sym typeface="Times New Roman"/>
              </a:rPr>
              <a:t>HARDWARE SETUP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280"/>
        <p:cNvGrpSpPr/>
        <p:nvPr/>
      </p:nvGrpSpPr>
      <p:grpSpPr>
        <a:xfrm>
          <a:off x="0" y="0"/>
          <a:ext cx="0" cy="0"/>
          <a:chOff x="0" y="0"/>
          <a:chExt cx="0" cy="0"/>
        </a:xfrm>
      </p:grpSpPr>
      <p:sp>
        <p:nvSpPr>
          <p:cNvPr id="281" name="Google Shape;281;p16"/>
          <p:cNvSpPr txBox="1"/>
          <p:nvPr/>
        </p:nvSpPr>
        <p:spPr>
          <a:xfrm>
            <a:off x="3494875" y="195400"/>
            <a:ext cx="1854300" cy="646500"/>
          </a:xfrm>
          <a:prstGeom prst="rect">
            <a:avLst/>
          </a:prstGeom>
          <a:noFill/>
          <a:ln w="9525" cap="flat" cmpd="sng">
            <a:solidFill>
              <a:srgbClr val="000000"/>
            </a:solidFill>
            <a:prstDash val="dashDot"/>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US" sz="3000" b="1" u="sng">
                <a:solidFill>
                  <a:srgbClr val="5C3D2E"/>
                </a:solidFill>
                <a:latin typeface="Times New Roman"/>
                <a:ea typeface="Times New Roman"/>
                <a:cs typeface="Times New Roman"/>
                <a:sym typeface="Times New Roman"/>
              </a:rPr>
              <a:t>PHASE 3</a:t>
            </a:r>
            <a:endParaRPr sz="3000" b="1" u="sng">
              <a:solidFill>
                <a:srgbClr val="5C3D2E"/>
              </a:solidFill>
              <a:latin typeface="Times New Roman"/>
              <a:ea typeface="Times New Roman"/>
              <a:cs typeface="Times New Roman"/>
              <a:sym typeface="Times New Roman"/>
            </a:endParaRPr>
          </a:p>
        </p:txBody>
      </p:sp>
      <p:sp>
        <p:nvSpPr>
          <p:cNvPr id="282" name="Google Shape;282;p16"/>
          <p:cNvSpPr txBox="1"/>
          <p:nvPr/>
        </p:nvSpPr>
        <p:spPr>
          <a:xfrm>
            <a:off x="1504050" y="1037125"/>
            <a:ext cx="61359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700" b="1" u="sng">
                <a:latin typeface="Times New Roman"/>
                <a:ea typeface="Times New Roman"/>
                <a:cs typeface="Times New Roman"/>
                <a:sym typeface="Times New Roman"/>
              </a:rPr>
              <a:t>FIREBASE INTEGRATION AND WEB-DASHBOARD DEVELOPMENT </a:t>
            </a:r>
            <a:endParaRPr sz="1700" b="1" u="sng">
              <a:latin typeface="Times New Roman"/>
              <a:ea typeface="Times New Roman"/>
              <a:cs typeface="Times New Roman"/>
              <a:sym typeface="Times New Roman"/>
            </a:endParaRPr>
          </a:p>
        </p:txBody>
      </p:sp>
      <p:sp>
        <p:nvSpPr>
          <p:cNvPr id="283" name="Google Shape;283;p16"/>
          <p:cNvSpPr txBox="1"/>
          <p:nvPr/>
        </p:nvSpPr>
        <p:spPr>
          <a:xfrm>
            <a:off x="367675" y="1803900"/>
            <a:ext cx="8108700" cy="431100"/>
          </a:xfrm>
          <a:prstGeom prst="rect">
            <a:avLst/>
          </a:prstGeom>
          <a:noFill/>
          <a:ln>
            <a:noFill/>
          </a:ln>
        </p:spPr>
        <p:txBody>
          <a:bodyPr spcFirstLastPara="1" wrap="square" lIns="91425" tIns="91425" rIns="91425" bIns="91425" anchor="t" anchorCtr="0">
            <a:spAutoFit/>
          </a:bodyPr>
          <a:lstStyle/>
          <a:p>
            <a:pPr marL="457200" lvl="0" indent="-330200" algn="l" rtl="0">
              <a:lnSpc>
                <a:spcPct val="150000"/>
              </a:lnSpc>
              <a:spcBef>
                <a:spcPts val="0"/>
              </a:spcBef>
              <a:spcAft>
                <a:spcPts val="0"/>
              </a:spcAft>
              <a:buSzPts val="1600"/>
              <a:buFont typeface="Times New Roman"/>
              <a:buAutoNum type="arabicPeriod"/>
            </a:pPr>
            <a:r>
              <a:rPr lang="en-US" sz="1600" b="1">
                <a:latin typeface="Times New Roman"/>
                <a:ea typeface="Times New Roman"/>
                <a:cs typeface="Times New Roman"/>
                <a:sym typeface="Times New Roman"/>
              </a:rPr>
              <a:t>Operator Dashboard</a:t>
            </a:r>
            <a:endParaRPr sz="1600" b="1">
              <a:latin typeface="Times New Roman"/>
              <a:ea typeface="Times New Roman"/>
              <a:cs typeface="Times New Roman"/>
              <a:sym typeface="Times New Roman"/>
            </a:endParaRPr>
          </a:p>
        </p:txBody>
      </p:sp>
      <p:sp>
        <p:nvSpPr>
          <p:cNvPr id="284" name="Google Shape;284;p16"/>
          <p:cNvSpPr txBox="1"/>
          <p:nvPr/>
        </p:nvSpPr>
        <p:spPr>
          <a:xfrm>
            <a:off x="936475" y="2293775"/>
            <a:ext cx="6971100" cy="27705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Live slot occupancy (Empty / Occupied)</a:t>
            </a:r>
            <a:endParaRPr>
              <a:solidFill>
                <a:srgbClr val="5C3D2E"/>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Real-time battery charging percentage</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Charging status (Charging/ Stopped)</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Estimated time to full charge</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Temperature displayed </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a:p>
            <a:pPr marL="457200" lvl="0" indent="-317500" algn="l" rtl="0">
              <a:spcBef>
                <a:spcPts val="0"/>
              </a:spcBef>
              <a:spcAft>
                <a:spcPts val="0"/>
              </a:spcAft>
              <a:buClr>
                <a:srgbClr val="5C3D2E"/>
              </a:buClr>
              <a:buSzPts val="1400"/>
              <a:buFont typeface="Times New Roman"/>
              <a:buChar char="●"/>
            </a:pPr>
            <a:r>
              <a:rPr lang="en-US">
                <a:solidFill>
                  <a:srgbClr val="5C3D2E"/>
                </a:solidFill>
                <a:latin typeface="Times New Roman"/>
                <a:ea typeface="Times New Roman"/>
                <a:cs typeface="Times New Roman"/>
                <a:sym typeface="Times New Roman"/>
              </a:rPr>
              <a:t>Auto-refresh without page reload</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5C3D2E"/>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DE0"/>
        </a:solidFill>
        <a:effectLst/>
      </p:bgPr>
    </p:bg>
    <p:spTree>
      <p:nvGrpSpPr>
        <p:cNvPr id="1" name="Shape 289"/>
        <p:cNvGrpSpPr/>
        <p:nvPr/>
      </p:nvGrpSpPr>
      <p:grpSpPr>
        <a:xfrm>
          <a:off x="0" y="0"/>
          <a:ext cx="0" cy="0"/>
          <a:chOff x="0" y="0"/>
          <a:chExt cx="0" cy="0"/>
        </a:xfrm>
      </p:grpSpPr>
      <p:pic>
        <p:nvPicPr>
          <p:cNvPr id="290" name="Google Shape;290;p17"/>
          <p:cNvPicPr preferRelativeResize="0"/>
          <p:nvPr/>
        </p:nvPicPr>
        <p:blipFill rotWithShape="1">
          <a:blip r:embed="rId3">
            <a:alphaModFix/>
          </a:blip>
          <a:srcRect b="15448"/>
          <a:stretch/>
        </p:blipFill>
        <p:spPr>
          <a:xfrm>
            <a:off x="0" y="0"/>
            <a:ext cx="9144000" cy="4804625"/>
          </a:xfrm>
          <a:prstGeom prst="rect">
            <a:avLst/>
          </a:prstGeom>
          <a:noFill/>
          <a:ln>
            <a:noFill/>
          </a:ln>
        </p:spPr>
      </p:pic>
      <p:sp>
        <p:nvSpPr>
          <p:cNvPr id="291" name="Google Shape;291;p17"/>
          <p:cNvSpPr txBox="1"/>
          <p:nvPr/>
        </p:nvSpPr>
        <p:spPr>
          <a:xfrm>
            <a:off x="3134525" y="4804625"/>
            <a:ext cx="3534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fig 2 : Web Dashboard - Operator View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296"/>
        <p:cNvGrpSpPr/>
        <p:nvPr/>
      </p:nvGrpSpPr>
      <p:grpSpPr>
        <a:xfrm>
          <a:off x="0" y="0"/>
          <a:ext cx="0" cy="0"/>
          <a:chOff x="0" y="0"/>
          <a:chExt cx="0" cy="0"/>
        </a:xfrm>
      </p:grpSpPr>
      <p:sp>
        <p:nvSpPr>
          <p:cNvPr id="297" name="Google Shape;297;p18"/>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8"/>
          <p:cNvSpPr/>
          <p:nvPr/>
        </p:nvSpPr>
        <p:spPr>
          <a:xfrm>
            <a:off x="127004" y="0"/>
            <a:ext cx="507780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a:solidFill>
                  <a:srgbClr val="C4956A"/>
                </a:solidFill>
                <a:latin typeface="Times New Roman"/>
                <a:ea typeface="Times New Roman"/>
                <a:cs typeface="Times New Roman"/>
                <a:sym typeface="Times New Roman"/>
              </a:rPr>
              <a:t>WEB DASHBOARD - USER VIEW</a:t>
            </a:r>
            <a:endParaRPr sz="2200" i="0" u="none" strike="noStrike" cap="none">
              <a:solidFill>
                <a:schemeClr val="dk1"/>
              </a:solidFill>
              <a:latin typeface="Times New Roman"/>
              <a:ea typeface="Times New Roman"/>
              <a:cs typeface="Times New Roman"/>
              <a:sym typeface="Times New Roman"/>
            </a:endParaRPr>
          </a:p>
        </p:txBody>
      </p:sp>
      <p:sp>
        <p:nvSpPr>
          <p:cNvPr id="299" name="Google Shape;299;p18"/>
          <p:cNvSpPr/>
          <p:nvPr/>
        </p:nvSpPr>
        <p:spPr>
          <a:xfrm>
            <a:off x="202023" y="933875"/>
            <a:ext cx="4573200" cy="320100"/>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None/>
            </a:pPr>
            <a:r>
              <a:rPr lang="en-US" sz="1600" b="1">
                <a:latin typeface="Times New Roman"/>
                <a:ea typeface="Times New Roman"/>
                <a:cs typeface="Times New Roman"/>
                <a:sym typeface="Times New Roman"/>
              </a:rPr>
              <a:t>2. The user dashboard has two stages:</a:t>
            </a:r>
            <a:endParaRPr sz="1600" b="1">
              <a:latin typeface="Times New Roman"/>
              <a:ea typeface="Times New Roman"/>
              <a:cs typeface="Times New Roman"/>
              <a:sym typeface="Times New Roman"/>
            </a:endParaRPr>
          </a:p>
          <a:p>
            <a:pPr marL="457200" marR="0" lvl="0" indent="-330200" algn="l" rtl="0">
              <a:lnSpc>
                <a:spcPct val="150000"/>
              </a:lnSpc>
              <a:spcBef>
                <a:spcPts val="0"/>
              </a:spcBef>
              <a:spcAft>
                <a:spcPts val="0"/>
              </a:spcAft>
              <a:buSzPts val="1600"/>
              <a:buFont typeface="Times New Roman"/>
              <a:buAutoNum type="arabicPeriod"/>
            </a:pPr>
            <a:endParaRPr sz="1600" b="1">
              <a:latin typeface="Times New Roman"/>
              <a:ea typeface="Times New Roman"/>
              <a:cs typeface="Times New Roman"/>
              <a:sym typeface="Times New Roman"/>
            </a:endParaRPr>
          </a:p>
        </p:txBody>
      </p:sp>
      <p:sp>
        <p:nvSpPr>
          <p:cNvPr id="300" name="Google Shape;300;p18"/>
          <p:cNvSpPr/>
          <p:nvPr/>
        </p:nvSpPr>
        <p:spPr>
          <a:xfrm>
            <a:off x="5689225" y="4983475"/>
            <a:ext cx="3168000" cy="15990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a:t>fig 3 : Web Dashboard - User View  </a:t>
            </a:r>
            <a:endParaRPr/>
          </a:p>
        </p:txBody>
      </p:sp>
      <p:sp>
        <p:nvSpPr>
          <p:cNvPr id="301" name="Google Shape;301;p18"/>
          <p:cNvSpPr/>
          <p:nvPr/>
        </p:nvSpPr>
        <p:spPr>
          <a:xfrm>
            <a:off x="256600" y="1253975"/>
            <a:ext cx="4818600" cy="11634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8"/>
          <p:cNvSpPr txBox="1"/>
          <p:nvPr/>
        </p:nvSpPr>
        <p:spPr>
          <a:xfrm>
            <a:off x="518200" y="1309750"/>
            <a:ext cx="3168000" cy="4002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Font typeface="Times New Roman"/>
              <a:buAutoNum type="arabicPeriod"/>
            </a:pPr>
            <a:r>
              <a:rPr lang="en-US" b="1">
                <a:latin typeface="Times New Roman"/>
                <a:ea typeface="Times New Roman"/>
                <a:cs typeface="Times New Roman"/>
                <a:sym typeface="Times New Roman"/>
              </a:rPr>
              <a:t>Before parking </a:t>
            </a:r>
            <a:endParaRPr b="1">
              <a:latin typeface="Times New Roman"/>
              <a:ea typeface="Times New Roman"/>
              <a:cs typeface="Times New Roman"/>
              <a:sym typeface="Times New Roman"/>
            </a:endParaRPr>
          </a:p>
        </p:txBody>
      </p:sp>
      <p:sp>
        <p:nvSpPr>
          <p:cNvPr id="303" name="Google Shape;303;p18"/>
          <p:cNvSpPr txBox="1"/>
          <p:nvPr/>
        </p:nvSpPr>
        <p:spPr>
          <a:xfrm>
            <a:off x="504800" y="1709950"/>
            <a:ext cx="43998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Shows the user their allotted slot number and a directional message to navigate to it.</a:t>
            </a:r>
            <a:endParaRPr sz="1300">
              <a:solidFill>
                <a:srgbClr val="1B2A4A"/>
              </a:solidFill>
              <a:latin typeface="Times New Roman"/>
              <a:ea typeface="Times New Roman"/>
              <a:cs typeface="Times New Roman"/>
              <a:sym typeface="Times New Roman"/>
            </a:endParaRPr>
          </a:p>
        </p:txBody>
      </p:sp>
      <p:sp>
        <p:nvSpPr>
          <p:cNvPr id="304" name="Google Shape;304;p18"/>
          <p:cNvSpPr/>
          <p:nvPr/>
        </p:nvSpPr>
        <p:spPr>
          <a:xfrm>
            <a:off x="256600" y="2490525"/>
            <a:ext cx="4818600" cy="24198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8"/>
          <p:cNvSpPr txBox="1"/>
          <p:nvPr/>
        </p:nvSpPr>
        <p:spPr>
          <a:xfrm>
            <a:off x="661550" y="2561450"/>
            <a:ext cx="2087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a:latin typeface="Times New Roman"/>
                <a:ea typeface="Times New Roman"/>
                <a:cs typeface="Times New Roman"/>
                <a:sym typeface="Times New Roman"/>
              </a:rPr>
              <a:t>2. After vehicle parks </a:t>
            </a:r>
            <a:endParaRPr b="1">
              <a:latin typeface="Times New Roman"/>
              <a:ea typeface="Times New Roman"/>
              <a:cs typeface="Times New Roman"/>
              <a:sym typeface="Times New Roman"/>
            </a:endParaRPr>
          </a:p>
        </p:txBody>
      </p:sp>
      <p:sp>
        <p:nvSpPr>
          <p:cNvPr id="306" name="Google Shape;306;p18"/>
          <p:cNvSpPr txBox="1"/>
          <p:nvPr/>
        </p:nvSpPr>
        <p:spPr>
          <a:xfrm>
            <a:off x="457100" y="2844375"/>
            <a:ext cx="4399800" cy="61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Once the IR sensor detects the vehicle, the dashboard switches to show:</a:t>
            </a:r>
            <a:endParaRPr sz="1300">
              <a:solidFill>
                <a:srgbClr val="1B2A4A"/>
              </a:solidFill>
              <a:latin typeface="Times New Roman"/>
              <a:ea typeface="Times New Roman"/>
              <a:cs typeface="Times New Roman"/>
              <a:sym typeface="Times New Roman"/>
            </a:endParaRPr>
          </a:p>
        </p:txBody>
      </p:sp>
      <p:sp>
        <p:nvSpPr>
          <p:cNvPr id="307" name="Google Shape;307;p18"/>
          <p:cNvSpPr txBox="1"/>
          <p:nvPr/>
        </p:nvSpPr>
        <p:spPr>
          <a:xfrm>
            <a:off x="627600" y="3560875"/>
            <a:ext cx="2742300" cy="1535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1100">
                <a:solidFill>
                  <a:srgbClr val="1B2A4A"/>
                </a:solidFill>
                <a:latin typeface="Calibri"/>
                <a:ea typeface="Calibri"/>
                <a:cs typeface="Calibri"/>
                <a:sym typeface="Calibri"/>
              </a:rPr>
              <a:t> </a:t>
            </a:r>
            <a:r>
              <a:rPr lang="en-US" sz="1300">
                <a:solidFill>
                  <a:srgbClr val="1B2A4A"/>
                </a:solidFill>
                <a:latin typeface="Times New Roman"/>
                <a:ea typeface="Times New Roman"/>
                <a:cs typeface="Times New Roman"/>
                <a:sym typeface="Times New Roman"/>
              </a:rPr>
              <a:t>•Charging percentage &amp; progress</a:t>
            </a:r>
            <a:endParaRPr sz="1300">
              <a:solidFill>
                <a:srgbClr val="1B2A4A"/>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 •Estimated time remaining</a:t>
            </a:r>
            <a:endParaRPr sz="1300">
              <a:solidFill>
                <a:srgbClr val="1B2A4A"/>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 Live temperature reading</a:t>
            </a:r>
            <a:endParaRPr sz="1300">
              <a:solidFill>
                <a:srgbClr val="1B2A4A"/>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 Charging ON / OFF status</a:t>
            </a:r>
            <a:endParaRPr sz="1300">
              <a:solidFill>
                <a:srgbClr val="1B2A4A"/>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300">
                <a:solidFill>
                  <a:srgbClr val="1B2A4A"/>
                </a:solidFill>
                <a:latin typeface="Times New Roman"/>
                <a:ea typeface="Times New Roman"/>
                <a:cs typeface="Times New Roman"/>
                <a:sym typeface="Times New Roman"/>
              </a:rPr>
              <a:t>• Slot occupancy status</a:t>
            </a:r>
            <a:endParaRPr sz="1300">
              <a:solidFill>
                <a:srgbClr val="1B2A4A"/>
              </a:solidFill>
              <a:latin typeface="Times New Roman"/>
              <a:ea typeface="Times New Roman"/>
              <a:cs typeface="Times New Roman"/>
              <a:sym typeface="Times New Roman"/>
            </a:endParaRPr>
          </a:p>
          <a:p>
            <a:pPr marL="0" lvl="0" indent="0" algn="l" rtl="0">
              <a:spcBef>
                <a:spcPts val="0"/>
              </a:spcBef>
              <a:spcAft>
                <a:spcPts val="0"/>
              </a:spcAft>
              <a:buNone/>
            </a:pPr>
            <a:endParaRPr sz="1300" b="1">
              <a:latin typeface="Times New Roman"/>
              <a:ea typeface="Times New Roman"/>
              <a:cs typeface="Times New Roman"/>
              <a:sym typeface="Times New Roman"/>
            </a:endParaRPr>
          </a:p>
        </p:txBody>
      </p:sp>
      <p:pic>
        <p:nvPicPr>
          <p:cNvPr id="308" name="Google Shape;308;p18"/>
          <p:cNvPicPr preferRelativeResize="0"/>
          <p:nvPr/>
        </p:nvPicPr>
        <p:blipFill rotWithShape="1">
          <a:blip r:embed="rId3">
            <a:alphaModFix/>
          </a:blip>
          <a:srcRect l="10518" r="7756"/>
          <a:stretch/>
        </p:blipFill>
        <p:spPr>
          <a:xfrm>
            <a:off x="5410825" y="0"/>
            <a:ext cx="3733174" cy="4983474"/>
          </a:xfrm>
          <a:prstGeom prst="rect">
            <a:avLst/>
          </a:prstGeom>
          <a:solidFill>
            <a:srgbClr val="F5EDE0"/>
          </a:solidFill>
          <a:ln w="12700" cap="flat" cmpd="sng">
            <a:solidFill>
              <a:srgbClr val="C4956A"/>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313"/>
        <p:cNvGrpSpPr/>
        <p:nvPr/>
      </p:nvGrpSpPr>
      <p:grpSpPr>
        <a:xfrm>
          <a:off x="0" y="0"/>
          <a:ext cx="0" cy="0"/>
          <a:chOff x="0" y="0"/>
          <a:chExt cx="0" cy="0"/>
        </a:xfrm>
      </p:grpSpPr>
      <p:sp>
        <p:nvSpPr>
          <p:cNvPr id="314" name="Google Shape;314;p19"/>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9"/>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OUTPUT &amp; RESULTS</a:t>
            </a:r>
            <a:endParaRPr sz="2200" b="0" i="0" u="none" strike="noStrike" cap="none">
              <a:solidFill>
                <a:schemeClr val="dk1"/>
              </a:solidFill>
              <a:latin typeface="Calibri"/>
              <a:ea typeface="Calibri"/>
              <a:cs typeface="Calibri"/>
              <a:sym typeface="Calibri"/>
            </a:endParaRPr>
          </a:p>
        </p:txBody>
      </p:sp>
      <p:sp>
        <p:nvSpPr>
          <p:cNvPr id="316" name="Google Shape;316;p19"/>
          <p:cNvSpPr/>
          <p:nvPr/>
        </p:nvSpPr>
        <p:spPr>
          <a:xfrm>
            <a:off x="365760" y="822960"/>
            <a:ext cx="8412480" cy="59436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9"/>
          <p:cNvSpPr/>
          <p:nvPr/>
        </p:nvSpPr>
        <p:spPr>
          <a:xfrm>
            <a:off x="457200" y="1024128"/>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9"/>
          <p:cNvSpPr/>
          <p:nvPr/>
        </p:nvSpPr>
        <p:spPr>
          <a:xfrm>
            <a:off x="777240" y="877824"/>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RFID Authentication</a:t>
            </a:r>
            <a:endParaRPr b="0" i="0" u="none" strike="noStrike" cap="none">
              <a:solidFill>
                <a:schemeClr val="dk1"/>
              </a:solidFill>
              <a:latin typeface="Calibri"/>
              <a:ea typeface="Calibri"/>
              <a:cs typeface="Calibri"/>
              <a:sym typeface="Calibri"/>
            </a:endParaRPr>
          </a:p>
        </p:txBody>
      </p:sp>
      <p:cxnSp>
        <p:nvCxnSpPr>
          <p:cNvPr id="319" name="Google Shape;319;p19"/>
          <p:cNvCxnSpPr/>
          <p:nvPr/>
        </p:nvCxnSpPr>
        <p:spPr>
          <a:xfrm>
            <a:off x="3154680" y="932688"/>
            <a:ext cx="0" cy="347472"/>
          </a:xfrm>
          <a:prstGeom prst="straightConnector1">
            <a:avLst/>
          </a:prstGeom>
          <a:noFill/>
          <a:ln w="12700" cap="flat" cmpd="sng">
            <a:solidFill>
              <a:srgbClr val="C4956A"/>
            </a:solidFill>
            <a:prstDash val="solid"/>
            <a:round/>
            <a:headEnd type="none" w="sm" len="sm"/>
            <a:tailEnd type="none" w="sm" len="sm"/>
          </a:ln>
        </p:spPr>
      </p:cxnSp>
      <p:sp>
        <p:nvSpPr>
          <p:cNvPr id="320" name="Google Shape;320;p19"/>
          <p:cNvSpPr/>
          <p:nvPr/>
        </p:nvSpPr>
        <p:spPr>
          <a:xfrm>
            <a:off x="3291840" y="877824"/>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Authorized card UID verified; gate opened within </a:t>
            </a:r>
            <a:r>
              <a:rPr lang="en-US" sz="1300">
                <a:solidFill>
                  <a:srgbClr val="5C3D2E"/>
                </a:solidFill>
                <a:latin typeface="Times New Roman"/>
                <a:ea typeface="Times New Roman"/>
                <a:cs typeface="Times New Roman"/>
                <a:sym typeface="Times New Roman"/>
              </a:rPr>
              <a:t>seconds </a:t>
            </a:r>
            <a:r>
              <a:rPr lang="en-US" sz="1300" b="0" i="0" u="none" strike="noStrike" cap="none">
                <a:solidFill>
                  <a:srgbClr val="5C3D2E"/>
                </a:solidFill>
                <a:latin typeface="Times New Roman"/>
                <a:ea typeface="Times New Roman"/>
                <a:cs typeface="Times New Roman"/>
                <a:sym typeface="Times New Roman"/>
              </a:rPr>
              <a:t>of scan.</a:t>
            </a:r>
            <a:endParaRPr sz="1300" b="0" i="0" u="none" strike="noStrike" cap="none">
              <a:solidFill>
                <a:schemeClr val="dk1"/>
              </a:solidFill>
              <a:latin typeface="Calibri"/>
              <a:ea typeface="Calibri"/>
              <a:cs typeface="Calibri"/>
              <a:sym typeface="Calibri"/>
            </a:endParaRPr>
          </a:p>
        </p:txBody>
      </p:sp>
      <p:sp>
        <p:nvSpPr>
          <p:cNvPr id="321" name="Google Shape;321;p19"/>
          <p:cNvSpPr/>
          <p:nvPr/>
        </p:nvSpPr>
        <p:spPr>
          <a:xfrm>
            <a:off x="365760" y="1527048"/>
            <a:ext cx="8412480" cy="59436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9"/>
          <p:cNvSpPr/>
          <p:nvPr/>
        </p:nvSpPr>
        <p:spPr>
          <a:xfrm>
            <a:off x="457200" y="1728216"/>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9"/>
          <p:cNvSpPr/>
          <p:nvPr/>
        </p:nvSpPr>
        <p:spPr>
          <a:xfrm>
            <a:off x="777240" y="1581912"/>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Automatic Gate Control</a:t>
            </a:r>
            <a:endParaRPr b="0" i="0" u="none" strike="noStrike" cap="none">
              <a:solidFill>
                <a:schemeClr val="dk1"/>
              </a:solidFill>
              <a:latin typeface="Calibri"/>
              <a:ea typeface="Calibri"/>
              <a:cs typeface="Calibri"/>
              <a:sym typeface="Calibri"/>
            </a:endParaRPr>
          </a:p>
        </p:txBody>
      </p:sp>
      <p:cxnSp>
        <p:nvCxnSpPr>
          <p:cNvPr id="324" name="Google Shape;324;p19"/>
          <p:cNvCxnSpPr/>
          <p:nvPr/>
        </p:nvCxnSpPr>
        <p:spPr>
          <a:xfrm>
            <a:off x="3154680" y="1636776"/>
            <a:ext cx="0" cy="347472"/>
          </a:xfrm>
          <a:prstGeom prst="straightConnector1">
            <a:avLst/>
          </a:prstGeom>
          <a:noFill/>
          <a:ln w="12700" cap="flat" cmpd="sng">
            <a:solidFill>
              <a:srgbClr val="C4956A"/>
            </a:solidFill>
            <a:prstDash val="solid"/>
            <a:round/>
            <a:headEnd type="none" w="sm" len="sm"/>
            <a:tailEnd type="none" w="sm" len="sm"/>
          </a:ln>
        </p:spPr>
      </p:cxnSp>
      <p:sp>
        <p:nvSpPr>
          <p:cNvPr id="325" name="Google Shape;325;p19"/>
          <p:cNvSpPr/>
          <p:nvPr/>
        </p:nvSpPr>
        <p:spPr>
          <a:xfrm>
            <a:off x="3291840" y="1581912"/>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Servo motor rotated 90° on authentication; closed after 3 seconds.</a:t>
            </a:r>
            <a:endParaRPr sz="1300" b="0" i="0" u="none" strike="noStrike" cap="none">
              <a:solidFill>
                <a:schemeClr val="dk1"/>
              </a:solidFill>
              <a:latin typeface="Calibri"/>
              <a:ea typeface="Calibri"/>
              <a:cs typeface="Calibri"/>
              <a:sym typeface="Calibri"/>
            </a:endParaRPr>
          </a:p>
        </p:txBody>
      </p:sp>
      <p:sp>
        <p:nvSpPr>
          <p:cNvPr id="326" name="Google Shape;326;p19"/>
          <p:cNvSpPr/>
          <p:nvPr/>
        </p:nvSpPr>
        <p:spPr>
          <a:xfrm>
            <a:off x="365760" y="2231136"/>
            <a:ext cx="8412480" cy="59436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9"/>
          <p:cNvSpPr/>
          <p:nvPr/>
        </p:nvSpPr>
        <p:spPr>
          <a:xfrm>
            <a:off x="457200" y="2432304"/>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9"/>
          <p:cNvSpPr/>
          <p:nvPr/>
        </p:nvSpPr>
        <p:spPr>
          <a:xfrm>
            <a:off x="777240" y="2286000"/>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Slot Detection</a:t>
            </a:r>
            <a:endParaRPr b="0" i="0" u="none" strike="noStrike" cap="none">
              <a:solidFill>
                <a:schemeClr val="dk1"/>
              </a:solidFill>
              <a:latin typeface="Calibri"/>
              <a:ea typeface="Calibri"/>
              <a:cs typeface="Calibri"/>
              <a:sym typeface="Calibri"/>
            </a:endParaRPr>
          </a:p>
        </p:txBody>
      </p:sp>
      <p:cxnSp>
        <p:nvCxnSpPr>
          <p:cNvPr id="329" name="Google Shape;329;p19"/>
          <p:cNvCxnSpPr/>
          <p:nvPr/>
        </p:nvCxnSpPr>
        <p:spPr>
          <a:xfrm>
            <a:off x="3154680" y="2340864"/>
            <a:ext cx="0" cy="347472"/>
          </a:xfrm>
          <a:prstGeom prst="straightConnector1">
            <a:avLst/>
          </a:prstGeom>
          <a:noFill/>
          <a:ln w="12700" cap="flat" cmpd="sng">
            <a:solidFill>
              <a:srgbClr val="C4956A"/>
            </a:solidFill>
            <a:prstDash val="solid"/>
            <a:round/>
            <a:headEnd type="none" w="sm" len="sm"/>
            <a:tailEnd type="none" w="sm" len="sm"/>
          </a:ln>
        </p:spPr>
      </p:cxnSp>
      <p:sp>
        <p:nvSpPr>
          <p:cNvPr id="330" name="Google Shape;330;p19"/>
          <p:cNvSpPr/>
          <p:nvPr/>
        </p:nvSpPr>
        <p:spPr>
          <a:xfrm>
            <a:off x="3291840" y="2286000"/>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IR sensors correctly identified Occupied/Empty status for all 3 slots.</a:t>
            </a:r>
            <a:endParaRPr sz="1300" b="0" i="0" u="none" strike="noStrike" cap="none">
              <a:solidFill>
                <a:schemeClr val="dk1"/>
              </a:solidFill>
              <a:latin typeface="Calibri"/>
              <a:ea typeface="Calibri"/>
              <a:cs typeface="Calibri"/>
              <a:sym typeface="Calibri"/>
            </a:endParaRPr>
          </a:p>
        </p:txBody>
      </p:sp>
      <p:sp>
        <p:nvSpPr>
          <p:cNvPr id="331" name="Google Shape;331;p19"/>
          <p:cNvSpPr/>
          <p:nvPr/>
        </p:nvSpPr>
        <p:spPr>
          <a:xfrm>
            <a:off x="365760" y="2935224"/>
            <a:ext cx="8412480" cy="59436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9"/>
          <p:cNvSpPr/>
          <p:nvPr/>
        </p:nvSpPr>
        <p:spPr>
          <a:xfrm>
            <a:off x="457200" y="3136392"/>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9"/>
          <p:cNvSpPr/>
          <p:nvPr/>
        </p:nvSpPr>
        <p:spPr>
          <a:xfrm>
            <a:off x="777240" y="2990088"/>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Automatic Charging</a:t>
            </a:r>
            <a:endParaRPr b="0" i="0" u="none" strike="noStrike" cap="none">
              <a:solidFill>
                <a:schemeClr val="dk1"/>
              </a:solidFill>
              <a:latin typeface="Calibri"/>
              <a:ea typeface="Calibri"/>
              <a:cs typeface="Calibri"/>
              <a:sym typeface="Calibri"/>
            </a:endParaRPr>
          </a:p>
        </p:txBody>
      </p:sp>
      <p:cxnSp>
        <p:nvCxnSpPr>
          <p:cNvPr id="334" name="Google Shape;334;p19"/>
          <p:cNvCxnSpPr/>
          <p:nvPr/>
        </p:nvCxnSpPr>
        <p:spPr>
          <a:xfrm>
            <a:off x="3154680" y="3044952"/>
            <a:ext cx="0" cy="347472"/>
          </a:xfrm>
          <a:prstGeom prst="straightConnector1">
            <a:avLst/>
          </a:prstGeom>
          <a:noFill/>
          <a:ln w="12700" cap="flat" cmpd="sng">
            <a:solidFill>
              <a:srgbClr val="C4956A"/>
            </a:solidFill>
            <a:prstDash val="solid"/>
            <a:round/>
            <a:headEnd type="none" w="sm" len="sm"/>
            <a:tailEnd type="none" w="sm" len="sm"/>
          </a:ln>
        </p:spPr>
      </p:cxnSp>
      <p:sp>
        <p:nvSpPr>
          <p:cNvPr id="335" name="Google Shape;335;p19"/>
          <p:cNvSpPr/>
          <p:nvPr/>
        </p:nvSpPr>
        <p:spPr>
          <a:xfrm>
            <a:off x="3291840" y="2990088"/>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Relay activated on vehicle detection; charging initiated without manual input.</a:t>
            </a:r>
            <a:endParaRPr sz="1300" b="0" i="0" u="none" strike="noStrike" cap="none">
              <a:solidFill>
                <a:schemeClr val="dk1"/>
              </a:solidFill>
              <a:latin typeface="Calibri"/>
              <a:ea typeface="Calibri"/>
              <a:cs typeface="Calibri"/>
              <a:sym typeface="Calibri"/>
            </a:endParaRPr>
          </a:p>
        </p:txBody>
      </p:sp>
      <p:sp>
        <p:nvSpPr>
          <p:cNvPr id="336" name="Google Shape;336;p19"/>
          <p:cNvSpPr/>
          <p:nvPr/>
        </p:nvSpPr>
        <p:spPr>
          <a:xfrm>
            <a:off x="365760" y="3639312"/>
            <a:ext cx="8412480" cy="59436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9"/>
          <p:cNvSpPr/>
          <p:nvPr/>
        </p:nvSpPr>
        <p:spPr>
          <a:xfrm>
            <a:off x="457200" y="3840480"/>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9"/>
          <p:cNvSpPr/>
          <p:nvPr/>
        </p:nvSpPr>
        <p:spPr>
          <a:xfrm>
            <a:off x="777240" y="3694176"/>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Dashboard Monitoring</a:t>
            </a:r>
            <a:endParaRPr b="0" i="0" u="none" strike="noStrike" cap="none">
              <a:solidFill>
                <a:schemeClr val="dk1"/>
              </a:solidFill>
              <a:latin typeface="Calibri"/>
              <a:ea typeface="Calibri"/>
              <a:cs typeface="Calibri"/>
              <a:sym typeface="Calibri"/>
            </a:endParaRPr>
          </a:p>
        </p:txBody>
      </p:sp>
      <p:cxnSp>
        <p:nvCxnSpPr>
          <p:cNvPr id="339" name="Google Shape;339;p19"/>
          <p:cNvCxnSpPr/>
          <p:nvPr/>
        </p:nvCxnSpPr>
        <p:spPr>
          <a:xfrm>
            <a:off x="3154680" y="3749040"/>
            <a:ext cx="0" cy="347472"/>
          </a:xfrm>
          <a:prstGeom prst="straightConnector1">
            <a:avLst/>
          </a:prstGeom>
          <a:noFill/>
          <a:ln w="12700" cap="flat" cmpd="sng">
            <a:solidFill>
              <a:srgbClr val="C4956A"/>
            </a:solidFill>
            <a:prstDash val="solid"/>
            <a:round/>
            <a:headEnd type="none" w="sm" len="sm"/>
            <a:tailEnd type="none" w="sm" len="sm"/>
          </a:ln>
        </p:spPr>
      </p:cxnSp>
      <p:sp>
        <p:nvSpPr>
          <p:cNvPr id="340" name="Google Shape;340;p19"/>
          <p:cNvSpPr/>
          <p:nvPr/>
        </p:nvSpPr>
        <p:spPr>
          <a:xfrm>
            <a:off x="3291840" y="3694176"/>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Web interface served by ESP32; data refreshed in real time via HTTP.</a:t>
            </a:r>
            <a:endParaRPr sz="1300" b="0" i="0" u="none" strike="noStrike" cap="none">
              <a:solidFill>
                <a:schemeClr val="dk1"/>
              </a:solidFill>
              <a:latin typeface="Calibri"/>
              <a:ea typeface="Calibri"/>
              <a:cs typeface="Calibri"/>
              <a:sym typeface="Calibri"/>
            </a:endParaRPr>
          </a:p>
        </p:txBody>
      </p:sp>
      <p:sp>
        <p:nvSpPr>
          <p:cNvPr id="341" name="Google Shape;341;p19"/>
          <p:cNvSpPr/>
          <p:nvPr/>
        </p:nvSpPr>
        <p:spPr>
          <a:xfrm>
            <a:off x="365760" y="4343400"/>
            <a:ext cx="8412480" cy="59436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9"/>
          <p:cNvSpPr/>
          <p:nvPr/>
        </p:nvSpPr>
        <p:spPr>
          <a:xfrm>
            <a:off x="457200" y="4544568"/>
            <a:ext cx="201168" cy="201168"/>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9"/>
          <p:cNvSpPr/>
          <p:nvPr/>
        </p:nvSpPr>
        <p:spPr>
          <a:xfrm>
            <a:off x="777240" y="4398264"/>
            <a:ext cx="228600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300"/>
              <a:buFont typeface="Times New Roman"/>
              <a:buNone/>
            </a:pPr>
            <a:r>
              <a:rPr lang="en-US" b="1" i="0" u="none" strike="noStrike" cap="none">
                <a:solidFill>
                  <a:srgbClr val="8B5E3C"/>
                </a:solidFill>
                <a:latin typeface="Times New Roman"/>
                <a:ea typeface="Times New Roman"/>
                <a:cs typeface="Times New Roman"/>
                <a:sym typeface="Times New Roman"/>
              </a:rPr>
              <a:t>Temperature Safety</a:t>
            </a:r>
            <a:endParaRPr b="0" i="0" u="none" strike="noStrike" cap="none">
              <a:solidFill>
                <a:schemeClr val="dk1"/>
              </a:solidFill>
              <a:latin typeface="Calibri"/>
              <a:ea typeface="Calibri"/>
              <a:cs typeface="Calibri"/>
              <a:sym typeface="Calibri"/>
            </a:endParaRPr>
          </a:p>
        </p:txBody>
      </p:sp>
      <p:cxnSp>
        <p:nvCxnSpPr>
          <p:cNvPr id="344" name="Google Shape;344;p19"/>
          <p:cNvCxnSpPr/>
          <p:nvPr/>
        </p:nvCxnSpPr>
        <p:spPr>
          <a:xfrm>
            <a:off x="3154680" y="4453128"/>
            <a:ext cx="0" cy="347472"/>
          </a:xfrm>
          <a:prstGeom prst="straightConnector1">
            <a:avLst/>
          </a:prstGeom>
          <a:noFill/>
          <a:ln w="12700" cap="flat" cmpd="sng">
            <a:solidFill>
              <a:srgbClr val="C4956A"/>
            </a:solidFill>
            <a:prstDash val="solid"/>
            <a:round/>
            <a:headEnd type="none" w="sm" len="sm"/>
            <a:tailEnd type="none" w="sm" len="sm"/>
          </a:ln>
        </p:spPr>
      </p:cxnSp>
      <p:sp>
        <p:nvSpPr>
          <p:cNvPr id="345" name="Google Shape;345;p19"/>
          <p:cNvSpPr/>
          <p:nvPr/>
        </p:nvSpPr>
        <p:spPr>
          <a:xfrm>
            <a:off x="3291840" y="4398264"/>
            <a:ext cx="5303520"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sz="1300" b="0" i="0" u="none" strike="noStrike" cap="none">
                <a:solidFill>
                  <a:srgbClr val="5C3D2E"/>
                </a:solidFill>
                <a:latin typeface="Times New Roman"/>
                <a:ea typeface="Times New Roman"/>
                <a:cs typeface="Times New Roman"/>
                <a:sym typeface="Times New Roman"/>
              </a:rPr>
              <a:t>DHT11 reading exceeded threshold → relay de-energized automatically.</a:t>
            </a:r>
            <a:endParaRPr sz="1300" b="0" i="0" u="none" strike="noStrike" cap="none">
              <a:solidFill>
                <a:schemeClr val="dk1"/>
              </a:solidFill>
              <a:latin typeface="Calibri"/>
              <a:ea typeface="Calibri"/>
              <a:cs typeface="Calibri"/>
              <a:sym typeface="Calibri"/>
            </a:endParaRPr>
          </a:p>
        </p:txBody>
      </p:sp>
      <p:sp>
        <p:nvSpPr>
          <p:cNvPr id="346" name="Google Shape;346;p19"/>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351"/>
        <p:cNvGrpSpPr/>
        <p:nvPr/>
      </p:nvGrpSpPr>
      <p:grpSpPr>
        <a:xfrm>
          <a:off x="0" y="0"/>
          <a:ext cx="0" cy="0"/>
          <a:chOff x="0" y="0"/>
          <a:chExt cx="0" cy="0"/>
        </a:xfrm>
      </p:grpSpPr>
      <p:sp>
        <p:nvSpPr>
          <p:cNvPr id="352" name="Google Shape;352;p20"/>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0"/>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ADVANTAGES</a:t>
            </a:r>
            <a:endParaRPr sz="2200" b="0" i="0" u="none" strike="noStrike" cap="none">
              <a:solidFill>
                <a:schemeClr val="dk1"/>
              </a:solidFill>
              <a:latin typeface="Calibri"/>
              <a:ea typeface="Calibri"/>
              <a:cs typeface="Calibri"/>
              <a:sym typeface="Calibri"/>
            </a:endParaRPr>
          </a:p>
        </p:txBody>
      </p:sp>
      <p:sp>
        <p:nvSpPr>
          <p:cNvPr id="354" name="Google Shape;354;p20"/>
          <p:cNvSpPr/>
          <p:nvPr/>
        </p:nvSpPr>
        <p:spPr>
          <a:xfrm>
            <a:off x="365739" y="1261875"/>
            <a:ext cx="8338500" cy="52110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0"/>
          <p:cNvSpPr/>
          <p:nvPr/>
        </p:nvSpPr>
        <p:spPr>
          <a:xfrm>
            <a:off x="502920" y="1426464"/>
            <a:ext cx="182880" cy="18288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0"/>
          <p:cNvSpPr/>
          <p:nvPr/>
        </p:nvSpPr>
        <p:spPr>
          <a:xfrm>
            <a:off x="804672" y="1298448"/>
            <a:ext cx="34746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b="0" i="0" u="none" strike="noStrike" cap="none">
                <a:solidFill>
                  <a:srgbClr val="5C3D2E"/>
                </a:solidFill>
                <a:latin typeface="Times New Roman"/>
                <a:ea typeface="Times New Roman"/>
                <a:cs typeface="Times New Roman"/>
                <a:sym typeface="Times New Roman"/>
              </a:rPr>
              <a:t>Fully automated </a:t>
            </a:r>
            <a:r>
              <a:rPr lang="en-US">
                <a:solidFill>
                  <a:srgbClr val="5C3D2E"/>
                </a:solidFill>
                <a:latin typeface="Times New Roman"/>
                <a:ea typeface="Times New Roman"/>
                <a:cs typeface="Times New Roman"/>
                <a:sym typeface="Times New Roman"/>
              </a:rPr>
              <a:t>- </a:t>
            </a:r>
            <a:r>
              <a:rPr lang="en-US" b="0" i="0" u="none" strike="noStrike" cap="none">
                <a:solidFill>
                  <a:srgbClr val="5C3D2E"/>
                </a:solidFill>
                <a:latin typeface="Times New Roman"/>
                <a:ea typeface="Times New Roman"/>
                <a:cs typeface="Times New Roman"/>
                <a:sym typeface="Times New Roman"/>
              </a:rPr>
              <a:t>no manual intervention</a:t>
            </a:r>
            <a:endParaRPr b="0" i="0" u="none" strike="noStrike" cap="none">
              <a:solidFill>
                <a:schemeClr val="dk1"/>
              </a:solidFill>
              <a:latin typeface="Calibri"/>
              <a:ea typeface="Calibri"/>
              <a:cs typeface="Calibri"/>
              <a:sym typeface="Calibri"/>
            </a:endParaRPr>
          </a:p>
        </p:txBody>
      </p:sp>
      <p:sp>
        <p:nvSpPr>
          <p:cNvPr id="357" name="Google Shape;357;p20"/>
          <p:cNvSpPr/>
          <p:nvPr/>
        </p:nvSpPr>
        <p:spPr>
          <a:xfrm>
            <a:off x="365739" y="1837950"/>
            <a:ext cx="8338500" cy="52110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a:off x="502920" y="2002536"/>
            <a:ext cx="182880" cy="18288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a:off x="804672" y="1874520"/>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b="0" i="0" u="none" strike="noStrike" cap="none">
                <a:solidFill>
                  <a:srgbClr val="5C3D2E"/>
                </a:solidFill>
                <a:latin typeface="Times New Roman"/>
                <a:ea typeface="Times New Roman"/>
                <a:cs typeface="Times New Roman"/>
                <a:sym typeface="Times New Roman"/>
              </a:rPr>
              <a:t>RFID ensures secure entry control</a:t>
            </a:r>
            <a:endParaRPr b="0" i="0" u="none" strike="noStrike" cap="none">
              <a:solidFill>
                <a:schemeClr val="dk1"/>
              </a:solidFill>
              <a:latin typeface="Calibri"/>
              <a:ea typeface="Calibri"/>
              <a:cs typeface="Calibri"/>
              <a:sym typeface="Calibri"/>
            </a:endParaRPr>
          </a:p>
        </p:txBody>
      </p:sp>
      <p:sp>
        <p:nvSpPr>
          <p:cNvPr id="360" name="Google Shape;360;p20"/>
          <p:cNvSpPr/>
          <p:nvPr/>
        </p:nvSpPr>
        <p:spPr>
          <a:xfrm>
            <a:off x="365739" y="2414025"/>
            <a:ext cx="8338500" cy="52110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0"/>
          <p:cNvSpPr/>
          <p:nvPr/>
        </p:nvSpPr>
        <p:spPr>
          <a:xfrm>
            <a:off x="502920" y="2578608"/>
            <a:ext cx="182880" cy="18288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0"/>
          <p:cNvSpPr/>
          <p:nvPr/>
        </p:nvSpPr>
        <p:spPr>
          <a:xfrm>
            <a:off x="804672" y="2450592"/>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b="0" i="0" u="none" strike="noStrike" cap="none">
                <a:solidFill>
                  <a:srgbClr val="5C3D2E"/>
                </a:solidFill>
                <a:latin typeface="Times New Roman"/>
                <a:ea typeface="Times New Roman"/>
                <a:cs typeface="Times New Roman"/>
                <a:sym typeface="Times New Roman"/>
              </a:rPr>
              <a:t>Real-time slot occupancy monitoring</a:t>
            </a:r>
            <a:endParaRPr b="0" i="0" u="none" strike="noStrike" cap="none">
              <a:solidFill>
                <a:schemeClr val="dk1"/>
              </a:solidFill>
              <a:latin typeface="Calibri"/>
              <a:ea typeface="Calibri"/>
              <a:cs typeface="Calibri"/>
              <a:sym typeface="Calibri"/>
            </a:endParaRPr>
          </a:p>
        </p:txBody>
      </p:sp>
      <p:sp>
        <p:nvSpPr>
          <p:cNvPr id="363" name="Google Shape;363;p20"/>
          <p:cNvSpPr/>
          <p:nvPr/>
        </p:nvSpPr>
        <p:spPr>
          <a:xfrm>
            <a:off x="365739" y="2990100"/>
            <a:ext cx="8338500" cy="521100"/>
          </a:xfrm>
          <a:prstGeom prst="rect">
            <a:avLst/>
          </a:prstGeom>
          <a:solidFill>
            <a:srgbClr val="FAF7F2"/>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a:off x="502920" y="3154680"/>
            <a:ext cx="182880" cy="18288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0"/>
          <p:cNvSpPr/>
          <p:nvPr/>
        </p:nvSpPr>
        <p:spPr>
          <a:xfrm>
            <a:off x="804672" y="3026664"/>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b="0" i="0" u="none" strike="noStrike" cap="none">
                <a:solidFill>
                  <a:srgbClr val="5C3D2E"/>
                </a:solidFill>
                <a:latin typeface="Times New Roman"/>
                <a:ea typeface="Times New Roman"/>
                <a:cs typeface="Times New Roman"/>
                <a:sym typeface="Times New Roman"/>
              </a:rPr>
              <a:t>EV charging managed and monitored live</a:t>
            </a:r>
            <a:endParaRPr b="0" i="0" u="none" strike="noStrike" cap="none">
              <a:solidFill>
                <a:schemeClr val="dk1"/>
              </a:solidFill>
              <a:latin typeface="Calibri"/>
              <a:ea typeface="Calibri"/>
              <a:cs typeface="Calibri"/>
              <a:sym typeface="Calibri"/>
            </a:endParaRPr>
          </a:p>
        </p:txBody>
      </p:sp>
      <p:sp>
        <p:nvSpPr>
          <p:cNvPr id="366" name="Google Shape;366;p20"/>
          <p:cNvSpPr/>
          <p:nvPr/>
        </p:nvSpPr>
        <p:spPr>
          <a:xfrm>
            <a:off x="365739" y="3566150"/>
            <a:ext cx="8338500" cy="521100"/>
          </a:xfrm>
          <a:prstGeom prst="rect">
            <a:avLst/>
          </a:prstGeom>
          <a:solidFill>
            <a:srgbClr val="F5EDE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0"/>
          <p:cNvSpPr/>
          <p:nvPr/>
        </p:nvSpPr>
        <p:spPr>
          <a:xfrm>
            <a:off x="502920" y="3730752"/>
            <a:ext cx="182880" cy="18288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0"/>
          <p:cNvSpPr/>
          <p:nvPr/>
        </p:nvSpPr>
        <p:spPr>
          <a:xfrm>
            <a:off x="804672" y="3602736"/>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r>
              <a:rPr lang="en-US" b="0" i="0" u="none" strike="noStrike" cap="none">
                <a:solidFill>
                  <a:srgbClr val="5C3D2E"/>
                </a:solidFill>
                <a:latin typeface="Times New Roman"/>
                <a:ea typeface="Times New Roman"/>
                <a:cs typeface="Times New Roman"/>
                <a:sym typeface="Times New Roman"/>
              </a:rPr>
              <a:t>Temperature-based safety protection</a:t>
            </a:r>
            <a:endParaRPr b="0" i="0" u="none" strike="noStrike" cap="none">
              <a:solidFill>
                <a:schemeClr val="dk1"/>
              </a:solidFill>
              <a:latin typeface="Calibri"/>
              <a:ea typeface="Calibri"/>
              <a:cs typeface="Calibri"/>
              <a:sym typeface="Calibri"/>
            </a:endParaRPr>
          </a:p>
        </p:txBody>
      </p:sp>
      <p:sp>
        <p:nvSpPr>
          <p:cNvPr id="369" name="Google Shape;369;p20"/>
          <p:cNvSpPr/>
          <p:nvPr/>
        </p:nvSpPr>
        <p:spPr>
          <a:xfrm>
            <a:off x="5138928" y="1298448"/>
            <a:ext cx="347472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200"/>
              <a:buFont typeface="Times New Roman"/>
              <a:buNone/>
            </a:pPr>
            <a:endParaRPr sz="1200" b="0" i="0" u="none" strike="noStrike" cap="none">
              <a:solidFill>
                <a:schemeClr val="dk1"/>
              </a:solidFill>
              <a:latin typeface="Calibri"/>
              <a:ea typeface="Calibri"/>
              <a:cs typeface="Calibri"/>
              <a:sym typeface="Calibri"/>
            </a:endParaRPr>
          </a:p>
        </p:txBody>
      </p:sp>
      <p:sp>
        <p:nvSpPr>
          <p:cNvPr id="370" name="Google Shape;370;p20"/>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375"/>
        <p:cNvGrpSpPr/>
        <p:nvPr/>
      </p:nvGrpSpPr>
      <p:grpSpPr>
        <a:xfrm>
          <a:off x="0" y="0"/>
          <a:ext cx="0" cy="0"/>
          <a:chOff x="0" y="0"/>
          <a:chExt cx="0" cy="0"/>
        </a:xfrm>
      </p:grpSpPr>
      <p:sp>
        <p:nvSpPr>
          <p:cNvPr id="376" name="Google Shape;376;p21"/>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1"/>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FUTURE SCOPE</a:t>
            </a:r>
            <a:endParaRPr sz="2200" b="0" i="0" u="none" strike="noStrike" cap="none">
              <a:solidFill>
                <a:schemeClr val="dk1"/>
              </a:solidFill>
              <a:latin typeface="Calibri"/>
              <a:ea typeface="Calibri"/>
              <a:cs typeface="Calibri"/>
              <a:sym typeface="Calibri"/>
            </a:endParaRPr>
          </a:p>
        </p:txBody>
      </p:sp>
      <p:sp>
        <p:nvSpPr>
          <p:cNvPr id="378" name="Google Shape;378;p21"/>
          <p:cNvSpPr/>
          <p:nvPr/>
        </p:nvSpPr>
        <p:spPr>
          <a:xfrm>
            <a:off x="365760" y="868680"/>
            <a:ext cx="2651760" cy="169164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1"/>
          <p:cNvSpPr/>
          <p:nvPr/>
        </p:nvSpPr>
        <p:spPr>
          <a:xfrm>
            <a:off x="457200" y="978408"/>
            <a:ext cx="438912" cy="438912"/>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1"/>
          <p:cNvSpPr/>
          <p:nvPr/>
        </p:nvSpPr>
        <p:spPr>
          <a:xfrm>
            <a:off x="457200" y="97840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Georgia"/>
              <a:buNone/>
            </a:pPr>
            <a:r>
              <a:rPr lang="en-US" sz="1200" b="1" i="0" u="none" strike="noStrike" cap="none">
                <a:solidFill>
                  <a:srgbClr val="FFFFFF"/>
                </a:solidFill>
                <a:latin typeface="Georgia"/>
                <a:ea typeface="Georgia"/>
                <a:cs typeface="Georgia"/>
                <a:sym typeface="Georgia"/>
              </a:rPr>
              <a:t>01</a:t>
            </a:r>
            <a:endParaRPr sz="1200" b="0" i="0" u="none" strike="noStrike" cap="none">
              <a:solidFill>
                <a:schemeClr val="dk1"/>
              </a:solidFill>
              <a:latin typeface="Calibri"/>
              <a:ea typeface="Calibri"/>
              <a:cs typeface="Calibri"/>
              <a:sym typeface="Calibri"/>
            </a:endParaRPr>
          </a:p>
        </p:txBody>
      </p:sp>
      <p:sp>
        <p:nvSpPr>
          <p:cNvPr id="381" name="Google Shape;381;p21"/>
          <p:cNvSpPr/>
          <p:nvPr/>
        </p:nvSpPr>
        <p:spPr>
          <a:xfrm>
            <a:off x="1005840" y="978408"/>
            <a:ext cx="19202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200"/>
              <a:buFont typeface="Times New Roman"/>
              <a:buNone/>
            </a:pPr>
            <a:r>
              <a:rPr lang="en-US" sz="1200" b="1" i="0" u="none" strike="noStrike" cap="none">
                <a:solidFill>
                  <a:srgbClr val="8B5E3C"/>
                </a:solidFill>
                <a:latin typeface="Times New Roman"/>
                <a:ea typeface="Times New Roman"/>
                <a:cs typeface="Times New Roman"/>
                <a:sym typeface="Times New Roman"/>
              </a:rPr>
              <a:t>Mobile App Integration</a:t>
            </a:r>
            <a:endParaRPr sz="1200" b="0" i="0" u="none" strike="noStrike" cap="none">
              <a:solidFill>
                <a:schemeClr val="dk1"/>
              </a:solidFill>
              <a:latin typeface="Calibri"/>
              <a:ea typeface="Calibri"/>
              <a:cs typeface="Calibri"/>
              <a:sym typeface="Calibri"/>
            </a:endParaRPr>
          </a:p>
        </p:txBody>
      </p:sp>
      <p:sp>
        <p:nvSpPr>
          <p:cNvPr id="382" name="Google Shape;382;p21"/>
          <p:cNvSpPr/>
          <p:nvPr/>
        </p:nvSpPr>
        <p:spPr>
          <a:xfrm>
            <a:off x="475488" y="1527048"/>
            <a:ext cx="243230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Android/iOS app for remote slot booking, status monitoring, and push alerts.</a:t>
            </a:r>
            <a:endParaRPr sz="1100" b="0" i="0" u="none" strike="noStrike" cap="none">
              <a:solidFill>
                <a:schemeClr val="dk1"/>
              </a:solidFill>
              <a:latin typeface="Calibri"/>
              <a:ea typeface="Calibri"/>
              <a:cs typeface="Calibri"/>
              <a:sym typeface="Calibri"/>
            </a:endParaRPr>
          </a:p>
        </p:txBody>
      </p:sp>
      <p:sp>
        <p:nvSpPr>
          <p:cNvPr id="383" name="Google Shape;383;p21"/>
          <p:cNvSpPr/>
          <p:nvPr/>
        </p:nvSpPr>
        <p:spPr>
          <a:xfrm>
            <a:off x="3291840" y="868680"/>
            <a:ext cx="2651760" cy="169164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1"/>
          <p:cNvSpPr/>
          <p:nvPr/>
        </p:nvSpPr>
        <p:spPr>
          <a:xfrm>
            <a:off x="3383280" y="978408"/>
            <a:ext cx="438912" cy="438912"/>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1"/>
          <p:cNvSpPr/>
          <p:nvPr/>
        </p:nvSpPr>
        <p:spPr>
          <a:xfrm>
            <a:off x="3383280" y="97840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Georgia"/>
              <a:buNone/>
            </a:pPr>
            <a:r>
              <a:rPr lang="en-US" sz="1200" b="1" i="0" u="none" strike="noStrike" cap="none">
                <a:solidFill>
                  <a:srgbClr val="FFFFFF"/>
                </a:solidFill>
                <a:latin typeface="Georgia"/>
                <a:ea typeface="Georgia"/>
                <a:cs typeface="Georgia"/>
                <a:sym typeface="Georgia"/>
              </a:rPr>
              <a:t>02</a:t>
            </a:r>
            <a:endParaRPr sz="1200" b="0" i="0" u="none" strike="noStrike" cap="none">
              <a:solidFill>
                <a:schemeClr val="dk1"/>
              </a:solidFill>
              <a:latin typeface="Calibri"/>
              <a:ea typeface="Calibri"/>
              <a:cs typeface="Calibri"/>
              <a:sym typeface="Calibri"/>
            </a:endParaRPr>
          </a:p>
        </p:txBody>
      </p:sp>
      <p:sp>
        <p:nvSpPr>
          <p:cNvPr id="386" name="Google Shape;386;p21"/>
          <p:cNvSpPr/>
          <p:nvPr/>
        </p:nvSpPr>
        <p:spPr>
          <a:xfrm>
            <a:off x="3931920" y="978408"/>
            <a:ext cx="19202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200"/>
              <a:buFont typeface="Times New Roman"/>
              <a:buNone/>
            </a:pPr>
            <a:r>
              <a:rPr lang="en-US" sz="1200" b="1" i="0" u="none" strike="noStrike" cap="none">
                <a:solidFill>
                  <a:srgbClr val="8B5E3C"/>
                </a:solidFill>
                <a:latin typeface="Times New Roman"/>
                <a:ea typeface="Times New Roman"/>
                <a:cs typeface="Times New Roman"/>
                <a:sym typeface="Times New Roman"/>
              </a:rPr>
              <a:t>Online Payment System</a:t>
            </a:r>
            <a:endParaRPr sz="1200" b="0" i="0" u="none" strike="noStrike" cap="none">
              <a:solidFill>
                <a:schemeClr val="dk1"/>
              </a:solidFill>
              <a:latin typeface="Calibri"/>
              <a:ea typeface="Calibri"/>
              <a:cs typeface="Calibri"/>
              <a:sym typeface="Calibri"/>
            </a:endParaRPr>
          </a:p>
        </p:txBody>
      </p:sp>
      <p:sp>
        <p:nvSpPr>
          <p:cNvPr id="387" name="Google Shape;387;p21"/>
          <p:cNvSpPr/>
          <p:nvPr/>
        </p:nvSpPr>
        <p:spPr>
          <a:xfrm>
            <a:off x="3401568" y="1527048"/>
            <a:ext cx="243230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UPI/card-based payment gateway for automated charging billing.</a:t>
            </a:r>
            <a:endParaRPr sz="1100" b="0" i="0" u="none" strike="noStrike" cap="none">
              <a:solidFill>
                <a:schemeClr val="dk1"/>
              </a:solidFill>
              <a:latin typeface="Calibri"/>
              <a:ea typeface="Calibri"/>
              <a:cs typeface="Calibri"/>
              <a:sym typeface="Calibri"/>
            </a:endParaRPr>
          </a:p>
        </p:txBody>
      </p:sp>
      <p:sp>
        <p:nvSpPr>
          <p:cNvPr id="388" name="Google Shape;388;p21"/>
          <p:cNvSpPr/>
          <p:nvPr/>
        </p:nvSpPr>
        <p:spPr>
          <a:xfrm>
            <a:off x="6217920" y="868680"/>
            <a:ext cx="2651760" cy="169164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1"/>
          <p:cNvSpPr/>
          <p:nvPr/>
        </p:nvSpPr>
        <p:spPr>
          <a:xfrm>
            <a:off x="6309360" y="978408"/>
            <a:ext cx="438912" cy="438912"/>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1"/>
          <p:cNvSpPr/>
          <p:nvPr/>
        </p:nvSpPr>
        <p:spPr>
          <a:xfrm>
            <a:off x="6309360" y="978408"/>
            <a:ext cx="438912" cy="43891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Georgia"/>
              <a:buNone/>
            </a:pPr>
            <a:r>
              <a:rPr lang="en-US" sz="1200" b="1" i="0" u="none" strike="noStrike" cap="none">
                <a:solidFill>
                  <a:srgbClr val="FFFFFF"/>
                </a:solidFill>
                <a:latin typeface="Georgia"/>
                <a:ea typeface="Georgia"/>
                <a:cs typeface="Georgia"/>
                <a:sym typeface="Georgia"/>
              </a:rPr>
              <a:t>03</a:t>
            </a:r>
            <a:endParaRPr sz="1200" b="0" i="0" u="none" strike="noStrike" cap="none">
              <a:solidFill>
                <a:schemeClr val="dk1"/>
              </a:solidFill>
              <a:latin typeface="Calibri"/>
              <a:ea typeface="Calibri"/>
              <a:cs typeface="Calibri"/>
              <a:sym typeface="Calibri"/>
            </a:endParaRPr>
          </a:p>
        </p:txBody>
      </p:sp>
      <p:sp>
        <p:nvSpPr>
          <p:cNvPr id="391" name="Google Shape;391;p21"/>
          <p:cNvSpPr/>
          <p:nvPr/>
        </p:nvSpPr>
        <p:spPr>
          <a:xfrm>
            <a:off x="6858000" y="978408"/>
            <a:ext cx="192024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200"/>
              <a:buFont typeface="Times New Roman"/>
              <a:buNone/>
            </a:pPr>
            <a:r>
              <a:rPr lang="en-US" sz="1200" b="1" i="0" u="none" strike="noStrike" cap="none">
                <a:solidFill>
                  <a:srgbClr val="8B5E3C"/>
                </a:solidFill>
                <a:latin typeface="Times New Roman"/>
                <a:ea typeface="Times New Roman"/>
                <a:cs typeface="Times New Roman"/>
                <a:sym typeface="Times New Roman"/>
              </a:rPr>
              <a:t>AI-Based Slot Prediction</a:t>
            </a:r>
            <a:endParaRPr sz="1200" b="0" i="0" u="none" strike="noStrike" cap="none">
              <a:solidFill>
                <a:schemeClr val="dk1"/>
              </a:solidFill>
              <a:latin typeface="Calibri"/>
              <a:ea typeface="Calibri"/>
              <a:cs typeface="Calibri"/>
              <a:sym typeface="Calibri"/>
            </a:endParaRPr>
          </a:p>
        </p:txBody>
      </p:sp>
      <p:sp>
        <p:nvSpPr>
          <p:cNvPr id="392" name="Google Shape;392;p21"/>
          <p:cNvSpPr/>
          <p:nvPr/>
        </p:nvSpPr>
        <p:spPr>
          <a:xfrm>
            <a:off x="6327648" y="1527048"/>
            <a:ext cx="2432304"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Machine learning to predict peak hours and pre-allocate parking intelligently.</a:t>
            </a:r>
            <a:endParaRPr sz="1100" b="0" i="0" u="none" strike="noStrike" cap="none">
              <a:solidFill>
                <a:schemeClr val="dk1"/>
              </a:solidFill>
              <a:latin typeface="Calibri"/>
              <a:ea typeface="Calibri"/>
              <a:cs typeface="Calibri"/>
              <a:sym typeface="Calibri"/>
            </a:endParaRPr>
          </a:p>
        </p:txBody>
      </p:sp>
      <p:sp>
        <p:nvSpPr>
          <p:cNvPr id="393" name="Google Shape;393;p21"/>
          <p:cNvSpPr/>
          <p:nvPr/>
        </p:nvSpPr>
        <p:spPr>
          <a:xfrm>
            <a:off x="1678897" y="2788870"/>
            <a:ext cx="2651700" cy="16917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1"/>
          <p:cNvSpPr/>
          <p:nvPr/>
        </p:nvSpPr>
        <p:spPr>
          <a:xfrm>
            <a:off x="1746513" y="2898648"/>
            <a:ext cx="438900" cy="43890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1"/>
          <p:cNvSpPr/>
          <p:nvPr/>
        </p:nvSpPr>
        <p:spPr>
          <a:xfrm>
            <a:off x="1746513" y="2898648"/>
            <a:ext cx="4389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Georgia"/>
              <a:buNone/>
            </a:pPr>
            <a:r>
              <a:rPr lang="en-US" sz="1200" b="1" i="0" u="none" strike="noStrike" cap="none">
                <a:solidFill>
                  <a:srgbClr val="FFFFFF"/>
                </a:solidFill>
                <a:latin typeface="Georgia"/>
                <a:ea typeface="Georgia"/>
                <a:cs typeface="Georgia"/>
                <a:sym typeface="Georgia"/>
              </a:rPr>
              <a:t>04</a:t>
            </a:r>
            <a:endParaRPr sz="1200" b="0" i="0" u="none" strike="noStrike" cap="none">
              <a:solidFill>
                <a:schemeClr val="dk1"/>
              </a:solidFill>
              <a:latin typeface="Calibri"/>
              <a:ea typeface="Calibri"/>
              <a:cs typeface="Calibri"/>
              <a:sym typeface="Calibri"/>
            </a:endParaRPr>
          </a:p>
        </p:txBody>
      </p:sp>
      <p:sp>
        <p:nvSpPr>
          <p:cNvPr id="396" name="Google Shape;396;p21"/>
          <p:cNvSpPr/>
          <p:nvPr/>
        </p:nvSpPr>
        <p:spPr>
          <a:xfrm>
            <a:off x="2355465" y="2898648"/>
            <a:ext cx="19203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200"/>
              <a:buFont typeface="Times New Roman"/>
              <a:buNone/>
            </a:pPr>
            <a:r>
              <a:rPr lang="en-US" sz="1200" b="1" i="0" u="none" strike="noStrike" cap="none">
                <a:solidFill>
                  <a:srgbClr val="8B5E3C"/>
                </a:solidFill>
                <a:latin typeface="Times New Roman"/>
                <a:ea typeface="Times New Roman"/>
                <a:cs typeface="Times New Roman"/>
                <a:sym typeface="Times New Roman"/>
              </a:rPr>
              <a:t>Real EV Charging Hardware</a:t>
            </a:r>
            <a:endParaRPr sz="1200" b="0" i="0" u="none" strike="noStrike" cap="none">
              <a:solidFill>
                <a:schemeClr val="dk1"/>
              </a:solidFill>
              <a:latin typeface="Calibri"/>
              <a:ea typeface="Calibri"/>
              <a:cs typeface="Calibri"/>
              <a:sym typeface="Calibri"/>
            </a:endParaRPr>
          </a:p>
        </p:txBody>
      </p:sp>
      <p:sp>
        <p:nvSpPr>
          <p:cNvPr id="397" name="Google Shape;397;p21"/>
          <p:cNvSpPr/>
          <p:nvPr/>
        </p:nvSpPr>
        <p:spPr>
          <a:xfrm>
            <a:off x="1788588" y="3447288"/>
            <a:ext cx="24324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Replace simulated charging with actual high-voltage EV charging circuitry.</a:t>
            </a:r>
            <a:endParaRPr sz="1100" b="0" i="0" u="none" strike="noStrike" cap="none">
              <a:solidFill>
                <a:schemeClr val="dk1"/>
              </a:solidFill>
              <a:latin typeface="Calibri"/>
              <a:ea typeface="Calibri"/>
              <a:cs typeface="Calibri"/>
              <a:sym typeface="Calibri"/>
            </a:endParaRPr>
          </a:p>
        </p:txBody>
      </p:sp>
      <p:sp>
        <p:nvSpPr>
          <p:cNvPr id="398" name="Google Shape;398;p21"/>
          <p:cNvSpPr/>
          <p:nvPr/>
        </p:nvSpPr>
        <p:spPr>
          <a:xfrm>
            <a:off x="5003670" y="2788882"/>
            <a:ext cx="2651700" cy="1691700"/>
          </a:xfrm>
          <a:prstGeom prst="rect">
            <a:avLst/>
          </a:prstGeom>
          <a:solidFill>
            <a:srgbClr val="F5EDE0"/>
          </a:solidFill>
          <a:ln w="12700" cap="flat" cmpd="sng">
            <a:solidFill>
              <a:srgbClr val="C4956A"/>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1"/>
          <p:cNvSpPr/>
          <p:nvPr/>
        </p:nvSpPr>
        <p:spPr>
          <a:xfrm>
            <a:off x="5163323" y="2898648"/>
            <a:ext cx="438900" cy="438900"/>
          </a:xfrm>
          <a:prstGeom prst="ellipse">
            <a:avLst/>
          </a:prstGeom>
          <a:solidFill>
            <a:srgbClr val="A0714F"/>
          </a:solidFill>
          <a:ln w="12700" cap="flat" cmpd="sng">
            <a:solidFill>
              <a:srgbClr val="A071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1"/>
          <p:cNvSpPr/>
          <p:nvPr/>
        </p:nvSpPr>
        <p:spPr>
          <a:xfrm>
            <a:off x="5163335" y="2898648"/>
            <a:ext cx="438900" cy="438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Georgia"/>
              <a:buNone/>
            </a:pPr>
            <a:r>
              <a:rPr lang="en-US" sz="1200" b="1" i="0" u="none" strike="noStrike" cap="none">
                <a:solidFill>
                  <a:srgbClr val="FFFFFF"/>
                </a:solidFill>
                <a:latin typeface="Georgia"/>
                <a:ea typeface="Georgia"/>
                <a:cs typeface="Georgia"/>
                <a:sym typeface="Georgia"/>
              </a:rPr>
              <a:t>0</a:t>
            </a:r>
            <a:r>
              <a:rPr lang="en-US" sz="1200" b="1">
                <a:solidFill>
                  <a:srgbClr val="FFFFFF"/>
                </a:solidFill>
                <a:latin typeface="Georgia"/>
                <a:ea typeface="Georgia"/>
                <a:cs typeface="Georgia"/>
                <a:sym typeface="Georgia"/>
              </a:rPr>
              <a:t>5</a:t>
            </a:r>
            <a:endParaRPr sz="1200" b="0" i="0" u="none" strike="noStrike" cap="none">
              <a:solidFill>
                <a:schemeClr val="dk1"/>
              </a:solidFill>
              <a:latin typeface="Calibri"/>
              <a:ea typeface="Calibri"/>
              <a:cs typeface="Calibri"/>
              <a:sym typeface="Calibri"/>
            </a:endParaRPr>
          </a:p>
        </p:txBody>
      </p:sp>
      <p:sp>
        <p:nvSpPr>
          <p:cNvPr id="401" name="Google Shape;401;p21"/>
          <p:cNvSpPr/>
          <p:nvPr/>
        </p:nvSpPr>
        <p:spPr>
          <a:xfrm>
            <a:off x="5735075" y="2898648"/>
            <a:ext cx="1920300" cy="438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B5E3C"/>
              </a:buClr>
              <a:buSzPts val="1200"/>
              <a:buFont typeface="Times New Roman"/>
              <a:buNone/>
            </a:pPr>
            <a:r>
              <a:rPr lang="en-US" sz="1200" b="1" i="0" u="none" strike="noStrike" cap="none">
                <a:solidFill>
                  <a:srgbClr val="8B5E3C"/>
                </a:solidFill>
                <a:latin typeface="Times New Roman"/>
                <a:ea typeface="Times New Roman"/>
                <a:cs typeface="Times New Roman"/>
                <a:sym typeface="Times New Roman"/>
              </a:rPr>
              <a:t>Smart City Integration</a:t>
            </a:r>
            <a:endParaRPr sz="1200" b="0" i="0" u="none" strike="noStrike" cap="none">
              <a:solidFill>
                <a:schemeClr val="dk1"/>
              </a:solidFill>
              <a:latin typeface="Calibri"/>
              <a:ea typeface="Calibri"/>
              <a:cs typeface="Calibri"/>
              <a:sym typeface="Calibri"/>
            </a:endParaRPr>
          </a:p>
        </p:txBody>
      </p:sp>
      <p:sp>
        <p:nvSpPr>
          <p:cNvPr id="402" name="Google Shape;402;p21"/>
          <p:cNvSpPr/>
          <p:nvPr/>
        </p:nvSpPr>
        <p:spPr>
          <a:xfrm>
            <a:off x="5113373" y="3447288"/>
            <a:ext cx="24324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Connect to municipal smart city infrastructure for city-wide EV management.</a:t>
            </a:r>
            <a:endParaRPr sz="1100" b="0" i="0" u="none" strike="noStrike" cap="none">
              <a:solidFill>
                <a:schemeClr val="dk1"/>
              </a:solidFill>
              <a:latin typeface="Calibri"/>
              <a:ea typeface="Calibri"/>
              <a:cs typeface="Calibri"/>
              <a:sym typeface="Calibri"/>
            </a:endParaRPr>
          </a:p>
        </p:txBody>
      </p:sp>
      <p:sp>
        <p:nvSpPr>
          <p:cNvPr id="403" name="Google Shape;403;p21"/>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D2B1F"/>
        </a:solidFill>
        <a:effectLst/>
      </p:bgPr>
    </p:bg>
    <p:spTree>
      <p:nvGrpSpPr>
        <p:cNvPr id="1" name="Shape 408"/>
        <p:cNvGrpSpPr/>
        <p:nvPr/>
      </p:nvGrpSpPr>
      <p:grpSpPr>
        <a:xfrm>
          <a:off x="0" y="0"/>
          <a:ext cx="0" cy="0"/>
          <a:chOff x="0" y="0"/>
          <a:chExt cx="0" cy="0"/>
        </a:xfrm>
      </p:grpSpPr>
      <p:sp>
        <p:nvSpPr>
          <p:cNvPr id="409" name="Google Shape;409;p22"/>
          <p:cNvSpPr/>
          <p:nvPr/>
        </p:nvSpPr>
        <p:spPr>
          <a:xfrm>
            <a:off x="0" y="0"/>
            <a:ext cx="10972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2"/>
          <p:cNvSpPr/>
          <p:nvPr/>
        </p:nvSpPr>
        <p:spPr>
          <a:xfrm>
            <a:off x="9034272" y="0"/>
            <a:ext cx="10972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2"/>
          <p:cNvSpPr/>
          <p:nvPr/>
        </p:nvSpPr>
        <p:spPr>
          <a:xfrm>
            <a:off x="365760" y="320040"/>
            <a:ext cx="8412480" cy="5029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800"/>
              <a:buFont typeface="Georgia"/>
              <a:buNone/>
            </a:pPr>
            <a:r>
              <a:rPr lang="en-US" sz="2800" b="1" i="0" u="none" strike="noStrike" cap="none">
                <a:solidFill>
                  <a:srgbClr val="C4956A"/>
                </a:solidFill>
                <a:latin typeface="Georgia"/>
                <a:ea typeface="Georgia"/>
                <a:cs typeface="Georgia"/>
                <a:sym typeface="Georgia"/>
              </a:rPr>
              <a:t>CONCLUSION</a:t>
            </a:r>
            <a:endParaRPr sz="2800" b="0" i="0" u="none" strike="noStrike" cap="none">
              <a:solidFill>
                <a:schemeClr val="dk1"/>
              </a:solidFill>
              <a:latin typeface="Calibri"/>
              <a:ea typeface="Calibri"/>
              <a:cs typeface="Calibri"/>
              <a:sym typeface="Calibri"/>
            </a:endParaRPr>
          </a:p>
        </p:txBody>
      </p:sp>
      <p:sp>
        <p:nvSpPr>
          <p:cNvPr id="412" name="Google Shape;412;p22"/>
          <p:cNvSpPr/>
          <p:nvPr/>
        </p:nvSpPr>
        <p:spPr>
          <a:xfrm>
            <a:off x="2743200" y="914400"/>
            <a:ext cx="3657600" cy="36576"/>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2"/>
          <p:cNvSpPr/>
          <p:nvPr/>
        </p:nvSpPr>
        <p:spPr>
          <a:xfrm>
            <a:off x="640080" y="1097280"/>
            <a:ext cx="7863840" cy="1371600"/>
          </a:xfrm>
          <a:prstGeom prst="rect">
            <a:avLst/>
          </a:prstGeom>
          <a:noFill/>
          <a:ln>
            <a:noFill/>
          </a:ln>
        </p:spPr>
        <p:txBody>
          <a:bodyPr spcFirstLastPara="1" wrap="square" lIns="0" tIns="0" rIns="0" bIns="0" anchor="t" anchorCtr="0">
            <a:noAutofit/>
          </a:bodyPr>
          <a:lstStyle/>
          <a:p>
            <a:pPr marL="0" marR="0" lvl="0" indent="0" algn="just" rtl="0">
              <a:spcBef>
                <a:spcPts val="0"/>
              </a:spcBef>
              <a:spcAft>
                <a:spcPts val="0"/>
              </a:spcAft>
              <a:buClr>
                <a:srgbClr val="F0E6D3"/>
              </a:buClr>
              <a:buSzPts val="1400"/>
              <a:buFont typeface="Times New Roman"/>
              <a:buNone/>
            </a:pPr>
            <a:r>
              <a:rPr lang="en-US" sz="1400" b="0" i="0" u="none" strike="noStrike" cap="none">
                <a:solidFill>
                  <a:srgbClr val="F0E6D3"/>
                </a:solidFill>
                <a:latin typeface="Times New Roman"/>
                <a:ea typeface="Times New Roman"/>
                <a:cs typeface="Times New Roman"/>
                <a:sym typeface="Times New Roman"/>
              </a:rPr>
              <a:t>This project successfully demonstrates a complete Smart EV Parking and Charging Management System using the ESP32 microcontroller. By integrating RFID-based authentication, IR sensor-driven slot monitoring, relay-controlled charging simulation, temperature safety via DHT11, and an IoT web dashboard, the system provides an end-to-end automated solution for modern EV infrastructure needs.</a:t>
            </a:r>
            <a:endParaRPr sz="1400" b="0" i="0" u="none" strike="noStrike" cap="none">
              <a:solidFill>
                <a:schemeClr val="dk1"/>
              </a:solidFill>
              <a:latin typeface="Calibri"/>
              <a:ea typeface="Calibri"/>
              <a:cs typeface="Calibri"/>
              <a:sym typeface="Calibri"/>
            </a:endParaRPr>
          </a:p>
        </p:txBody>
      </p:sp>
      <p:sp>
        <p:nvSpPr>
          <p:cNvPr id="414" name="Google Shape;414;p22"/>
          <p:cNvSpPr/>
          <p:nvPr/>
        </p:nvSpPr>
        <p:spPr>
          <a:xfrm>
            <a:off x="640080" y="2697480"/>
            <a:ext cx="731520" cy="731520"/>
          </a:xfrm>
          <a:prstGeom prst="ellipse">
            <a:avLst/>
          </a:prstGeom>
          <a:solidFill>
            <a:srgbClr val="A0714F">
              <a:alpha val="5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5" name="Google Shape;415;p22" descr="preencoded.png"/>
          <p:cNvPicPr preferRelativeResize="0"/>
          <p:nvPr/>
        </p:nvPicPr>
        <p:blipFill rotWithShape="1">
          <a:blip r:embed="rId3">
            <a:alphaModFix/>
          </a:blip>
          <a:srcRect/>
          <a:stretch/>
        </p:blipFill>
        <p:spPr>
          <a:xfrm>
            <a:off x="777240" y="2743200"/>
            <a:ext cx="457200" cy="457200"/>
          </a:xfrm>
          <a:prstGeom prst="rect">
            <a:avLst/>
          </a:prstGeom>
          <a:noFill/>
          <a:ln>
            <a:noFill/>
          </a:ln>
        </p:spPr>
      </p:pic>
      <p:sp>
        <p:nvSpPr>
          <p:cNvPr id="416" name="Google Shape;416;p22"/>
          <p:cNvSpPr/>
          <p:nvPr/>
        </p:nvSpPr>
        <p:spPr>
          <a:xfrm>
            <a:off x="640080" y="3520440"/>
            <a:ext cx="731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Secure</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Access</a:t>
            </a:r>
            <a:endParaRPr sz="1000" b="0" i="0" u="none" strike="noStrike" cap="none">
              <a:solidFill>
                <a:schemeClr val="dk1"/>
              </a:solidFill>
              <a:latin typeface="Calibri"/>
              <a:ea typeface="Calibri"/>
              <a:cs typeface="Calibri"/>
              <a:sym typeface="Calibri"/>
            </a:endParaRPr>
          </a:p>
        </p:txBody>
      </p:sp>
      <p:sp>
        <p:nvSpPr>
          <p:cNvPr id="417" name="Google Shape;417;p22"/>
          <p:cNvSpPr/>
          <p:nvPr/>
        </p:nvSpPr>
        <p:spPr>
          <a:xfrm>
            <a:off x="2267712" y="2697480"/>
            <a:ext cx="731520" cy="731520"/>
          </a:xfrm>
          <a:prstGeom prst="ellipse">
            <a:avLst/>
          </a:prstGeom>
          <a:solidFill>
            <a:srgbClr val="A0714F">
              <a:alpha val="5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8" name="Google Shape;418;p22" descr="preencoded.png"/>
          <p:cNvPicPr preferRelativeResize="0"/>
          <p:nvPr/>
        </p:nvPicPr>
        <p:blipFill rotWithShape="1">
          <a:blip r:embed="rId4">
            <a:alphaModFix/>
          </a:blip>
          <a:srcRect/>
          <a:stretch/>
        </p:blipFill>
        <p:spPr>
          <a:xfrm>
            <a:off x="2404872" y="2743200"/>
            <a:ext cx="457200" cy="457200"/>
          </a:xfrm>
          <a:prstGeom prst="rect">
            <a:avLst/>
          </a:prstGeom>
          <a:noFill/>
          <a:ln>
            <a:noFill/>
          </a:ln>
        </p:spPr>
      </p:pic>
      <p:sp>
        <p:nvSpPr>
          <p:cNvPr id="419" name="Google Shape;419;p22"/>
          <p:cNvSpPr/>
          <p:nvPr/>
        </p:nvSpPr>
        <p:spPr>
          <a:xfrm>
            <a:off x="2267712" y="3520440"/>
            <a:ext cx="731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Smart</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Parking</a:t>
            </a:r>
            <a:endParaRPr sz="1000" b="0" i="0" u="none" strike="noStrike" cap="none">
              <a:solidFill>
                <a:schemeClr val="dk1"/>
              </a:solidFill>
              <a:latin typeface="Calibri"/>
              <a:ea typeface="Calibri"/>
              <a:cs typeface="Calibri"/>
              <a:sym typeface="Calibri"/>
            </a:endParaRPr>
          </a:p>
        </p:txBody>
      </p:sp>
      <p:sp>
        <p:nvSpPr>
          <p:cNvPr id="420" name="Google Shape;420;p22"/>
          <p:cNvSpPr/>
          <p:nvPr/>
        </p:nvSpPr>
        <p:spPr>
          <a:xfrm>
            <a:off x="3895344" y="2697480"/>
            <a:ext cx="731520" cy="731520"/>
          </a:xfrm>
          <a:prstGeom prst="ellipse">
            <a:avLst/>
          </a:prstGeom>
          <a:solidFill>
            <a:srgbClr val="A0714F">
              <a:alpha val="5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1" name="Google Shape;421;p22" descr="preencoded.png"/>
          <p:cNvPicPr preferRelativeResize="0"/>
          <p:nvPr/>
        </p:nvPicPr>
        <p:blipFill rotWithShape="1">
          <a:blip r:embed="rId5">
            <a:alphaModFix/>
          </a:blip>
          <a:srcRect/>
          <a:stretch/>
        </p:blipFill>
        <p:spPr>
          <a:xfrm>
            <a:off x="4032504" y="2743200"/>
            <a:ext cx="457200" cy="457200"/>
          </a:xfrm>
          <a:prstGeom prst="rect">
            <a:avLst/>
          </a:prstGeom>
          <a:noFill/>
          <a:ln>
            <a:noFill/>
          </a:ln>
        </p:spPr>
      </p:pic>
      <p:sp>
        <p:nvSpPr>
          <p:cNvPr id="422" name="Google Shape;422;p22"/>
          <p:cNvSpPr/>
          <p:nvPr/>
        </p:nvSpPr>
        <p:spPr>
          <a:xfrm>
            <a:off x="3895344" y="3520440"/>
            <a:ext cx="731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Auto</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Charging</a:t>
            </a:r>
            <a:endParaRPr sz="1000" b="0" i="0" u="none" strike="noStrike" cap="none">
              <a:solidFill>
                <a:schemeClr val="dk1"/>
              </a:solidFill>
              <a:latin typeface="Calibri"/>
              <a:ea typeface="Calibri"/>
              <a:cs typeface="Calibri"/>
              <a:sym typeface="Calibri"/>
            </a:endParaRPr>
          </a:p>
        </p:txBody>
      </p:sp>
      <p:sp>
        <p:nvSpPr>
          <p:cNvPr id="423" name="Google Shape;423;p22"/>
          <p:cNvSpPr/>
          <p:nvPr/>
        </p:nvSpPr>
        <p:spPr>
          <a:xfrm>
            <a:off x="5522976" y="2697480"/>
            <a:ext cx="731520" cy="731520"/>
          </a:xfrm>
          <a:prstGeom prst="ellipse">
            <a:avLst/>
          </a:prstGeom>
          <a:solidFill>
            <a:srgbClr val="A0714F">
              <a:alpha val="5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4" name="Google Shape;424;p22" descr="preencoded.png"/>
          <p:cNvPicPr preferRelativeResize="0"/>
          <p:nvPr/>
        </p:nvPicPr>
        <p:blipFill rotWithShape="1">
          <a:blip r:embed="rId6">
            <a:alphaModFix/>
          </a:blip>
          <a:srcRect/>
          <a:stretch/>
        </p:blipFill>
        <p:spPr>
          <a:xfrm>
            <a:off x="5660136" y="2743200"/>
            <a:ext cx="457200" cy="457200"/>
          </a:xfrm>
          <a:prstGeom prst="rect">
            <a:avLst/>
          </a:prstGeom>
          <a:noFill/>
          <a:ln>
            <a:noFill/>
          </a:ln>
        </p:spPr>
      </p:pic>
      <p:sp>
        <p:nvSpPr>
          <p:cNvPr id="425" name="Google Shape;425;p22"/>
          <p:cNvSpPr/>
          <p:nvPr/>
        </p:nvSpPr>
        <p:spPr>
          <a:xfrm>
            <a:off x="5522976" y="3520440"/>
            <a:ext cx="731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Safety</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System</a:t>
            </a:r>
            <a:endParaRPr sz="1000" b="0" i="0" u="none" strike="noStrike" cap="none">
              <a:solidFill>
                <a:schemeClr val="dk1"/>
              </a:solidFill>
              <a:latin typeface="Calibri"/>
              <a:ea typeface="Calibri"/>
              <a:cs typeface="Calibri"/>
              <a:sym typeface="Calibri"/>
            </a:endParaRPr>
          </a:p>
        </p:txBody>
      </p:sp>
      <p:sp>
        <p:nvSpPr>
          <p:cNvPr id="426" name="Google Shape;426;p22"/>
          <p:cNvSpPr/>
          <p:nvPr/>
        </p:nvSpPr>
        <p:spPr>
          <a:xfrm>
            <a:off x="7150608" y="2697480"/>
            <a:ext cx="731520" cy="731520"/>
          </a:xfrm>
          <a:prstGeom prst="ellipse">
            <a:avLst/>
          </a:prstGeom>
          <a:solidFill>
            <a:srgbClr val="A0714F">
              <a:alpha val="50196"/>
            </a:srgbClr>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7" name="Google Shape;427;p22" descr="preencoded.png"/>
          <p:cNvPicPr preferRelativeResize="0"/>
          <p:nvPr/>
        </p:nvPicPr>
        <p:blipFill rotWithShape="1">
          <a:blip r:embed="rId7">
            <a:alphaModFix/>
          </a:blip>
          <a:srcRect/>
          <a:stretch/>
        </p:blipFill>
        <p:spPr>
          <a:xfrm>
            <a:off x="7287768" y="2743200"/>
            <a:ext cx="457200" cy="457200"/>
          </a:xfrm>
          <a:prstGeom prst="rect">
            <a:avLst/>
          </a:prstGeom>
          <a:noFill/>
          <a:ln>
            <a:noFill/>
          </a:ln>
        </p:spPr>
      </p:pic>
      <p:sp>
        <p:nvSpPr>
          <p:cNvPr id="428" name="Google Shape;428;p22"/>
          <p:cNvSpPr/>
          <p:nvPr/>
        </p:nvSpPr>
        <p:spPr>
          <a:xfrm>
            <a:off x="7150608" y="3520440"/>
            <a:ext cx="7315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Live</a:t>
            </a:r>
            <a:endParaRPr sz="1000" b="0" i="0" u="none" strike="noStrike" cap="none">
              <a:solidFill>
                <a:schemeClr val="dk1"/>
              </a:solidFill>
              <a:latin typeface="Calibri"/>
              <a:ea typeface="Calibri"/>
              <a:cs typeface="Calibri"/>
              <a:sym typeface="Calibri"/>
            </a:endParaRPr>
          </a:p>
          <a:p>
            <a:pPr marL="0" marR="0" lvl="0" indent="0" algn="ctr" rtl="0">
              <a:spcBef>
                <a:spcPts val="0"/>
              </a:spcBef>
              <a:spcAft>
                <a:spcPts val="0"/>
              </a:spcAft>
              <a:buClr>
                <a:srgbClr val="F0E6D3"/>
              </a:buClr>
              <a:buSzPts val="1000"/>
              <a:buFont typeface="Times New Roman"/>
              <a:buNone/>
            </a:pPr>
            <a:r>
              <a:rPr lang="en-US" sz="1000" b="0" i="0" u="none" strike="noStrike" cap="none">
                <a:solidFill>
                  <a:srgbClr val="F0E6D3"/>
                </a:solidFill>
                <a:latin typeface="Times New Roman"/>
                <a:ea typeface="Times New Roman"/>
                <a:cs typeface="Times New Roman"/>
                <a:sym typeface="Times New Roman"/>
              </a:rPr>
              <a:t>Monitoring</a:t>
            </a:r>
            <a:endParaRPr sz="1000" b="0" i="0" u="none" strike="noStrike" cap="none">
              <a:solidFill>
                <a:schemeClr val="dk1"/>
              </a:solidFill>
              <a:latin typeface="Calibri"/>
              <a:ea typeface="Calibri"/>
              <a:cs typeface="Calibri"/>
              <a:sym typeface="Calibri"/>
            </a:endParaRPr>
          </a:p>
        </p:txBody>
      </p:sp>
      <p:sp>
        <p:nvSpPr>
          <p:cNvPr id="429" name="Google Shape;429;p22"/>
          <p:cNvSpPr/>
          <p:nvPr/>
        </p:nvSpPr>
        <p:spPr>
          <a:xfrm>
            <a:off x="640080" y="4114800"/>
            <a:ext cx="7863840" cy="7315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1300"/>
              <a:buFont typeface="Times New Roman"/>
              <a:buNone/>
            </a:pPr>
            <a:r>
              <a:rPr lang="en-US" sz="1300" b="0" i="1" u="none" strike="noStrike" cap="none">
                <a:solidFill>
                  <a:srgbClr val="C4956A"/>
                </a:solidFill>
                <a:latin typeface="Times New Roman"/>
                <a:ea typeface="Times New Roman"/>
                <a:cs typeface="Times New Roman"/>
                <a:sym typeface="Times New Roman"/>
              </a:rPr>
              <a:t>The system validates the feasibility of IoT-based automation for EV parking facilities, laying a solid foundation for future-scale real-world deployment.</a:t>
            </a:r>
            <a:endParaRPr sz="13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Shape 434"/>
        <p:cNvGrpSpPr/>
        <p:nvPr/>
      </p:nvGrpSpPr>
      <p:grpSpPr>
        <a:xfrm>
          <a:off x="0" y="0"/>
          <a:ext cx="0" cy="0"/>
          <a:chOff x="0" y="0"/>
          <a:chExt cx="0" cy="0"/>
        </a:xfrm>
      </p:grpSpPr>
      <p:sp>
        <p:nvSpPr>
          <p:cNvPr id="435" name="Google Shape;435;p23"/>
          <p:cNvSpPr/>
          <p:nvPr/>
        </p:nvSpPr>
        <p:spPr>
          <a:xfrm>
            <a:off x="0" y="0"/>
            <a:ext cx="9144000" cy="685800"/>
          </a:xfrm>
          <a:prstGeom prst="rect">
            <a:avLst/>
          </a:prstGeom>
          <a:solidFill>
            <a:srgbClr val="3D2B1F"/>
          </a:solidFill>
          <a:ln w="12700" cap="flat" cmpd="sng">
            <a:solidFill>
              <a:srgbClr val="3D2B1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3"/>
          <p:cNvSpPr/>
          <p:nvPr/>
        </p:nvSpPr>
        <p:spPr>
          <a:xfrm>
            <a:off x="365760" y="0"/>
            <a:ext cx="8412480" cy="685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4956A"/>
              </a:buClr>
              <a:buSzPts val="2200"/>
              <a:buFont typeface="Georgia"/>
              <a:buNone/>
            </a:pPr>
            <a:r>
              <a:rPr lang="en-US" sz="2200" b="1" i="0" u="none" strike="noStrike" cap="none">
                <a:solidFill>
                  <a:srgbClr val="C4956A"/>
                </a:solidFill>
                <a:latin typeface="Georgia"/>
                <a:ea typeface="Georgia"/>
                <a:cs typeface="Georgia"/>
                <a:sym typeface="Georgia"/>
              </a:rPr>
              <a:t>REFERENCES</a:t>
            </a:r>
            <a:endParaRPr sz="2200" b="0" i="0" u="none" strike="noStrike" cap="none">
              <a:solidFill>
                <a:schemeClr val="dk1"/>
              </a:solidFill>
              <a:latin typeface="Calibri"/>
              <a:ea typeface="Calibri"/>
              <a:cs typeface="Calibri"/>
              <a:sym typeface="Calibri"/>
            </a:endParaRPr>
          </a:p>
        </p:txBody>
      </p:sp>
      <p:sp>
        <p:nvSpPr>
          <p:cNvPr id="437" name="Google Shape;437;p23"/>
          <p:cNvSpPr/>
          <p:nvPr/>
        </p:nvSpPr>
        <p:spPr>
          <a:xfrm>
            <a:off x="365760" y="841248"/>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[1] R. Kumar, A. Sharma, "IoT Based Smart Parking Management System Using RFID and ESP32," IEEE Transactions on Intelligent Transportation Systems, vol. 22, no. 6, pp. 3812–3820, Jun. 2022.</a:t>
            </a:r>
            <a:endParaRPr sz="1100" b="0" i="0" u="none" strike="noStrike" cap="none">
              <a:solidFill>
                <a:schemeClr val="dk1"/>
              </a:solidFill>
              <a:latin typeface="Calibri"/>
              <a:ea typeface="Calibri"/>
              <a:cs typeface="Calibri"/>
              <a:sym typeface="Calibri"/>
            </a:endParaRPr>
          </a:p>
        </p:txBody>
      </p:sp>
      <p:sp>
        <p:nvSpPr>
          <p:cNvPr id="438" name="Google Shape;438;p23"/>
          <p:cNvSpPr/>
          <p:nvPr/>
        </p:nvSpPr>
        <p:spPr>
          <a:xfrm>
            <a:off x="365760" y="1417320"/>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[2] S. Patel, M. Verma, "Design and Implementation of RFID-Based Vehicle Parking with Automated Charging Notification," International Journal of Embedded Systems, vol. 14, no. 2, pp. 150–158, 2023.</a:t>
            </a:r>
            <a:endParaRPr sz="1100" b="0" i="0" u="none" strike="noStrike" cap="none">
              <a:solidFill>
                <a:schemeClr val="dk1"/>
              </a:solidFill>
              <a:latin typeface="Calibri"/>
              <a:ea typeface="Calibri"/>
              <a:cs typeface="Calibri"/>
              <a:sym typeface="Calibri"/>
            </a:endParaRPr>
          </a:p>
        </p:txBody>
      </p:sp>
      <p:sp>
        <p:nvSpPr>
          <p:cNvPr id="439" name="Google Shape;439;p23"/>
          <p:cNvSpPr/>
          <p:nvPr/>
        </p:nvSpPr>
        <p:spPr>
          <a:xfrm>
            <a:off x="365760" y="1993392"/>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[3] Espressif Systems, "ESP32 Technical Reference Manual," Version 4.9, Available: https://www.espressif.com/documentation, 2023.</a:t>
            </a:r>
            <a:endParaRPr sz="1100" b="0" i="0" u="none" strike="noStrike" cap="none">
              <a:solidFill>
                <a:schemeClr val="dk1"/>
              </a:solidFill>
              <a:latin typeface="Calibri"/>
              <a:ea typeface="Calibri"/>
              <a:cs typeface="Calibri"/>
              <a:sym typeface="Calibri"/>
            </a:endParaRPr>
          </a:p>
        </p:txBody>
      </p:sp>
      <p:sp>
        <p:nvSpPr>
          <p:cNvPr id="440" name="Google Shape;440;p23"/>
          <p:cNvSpPr/>
          <p:nvPr/>
        </p:nvSpPr>
        <p:spPr>
          <a:xfrm>
            <a:off x="365760" y="2569464"/>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[4] Arduino Project Hub, "Using RFID RC522 with Arduino and ESP32," Available: https://create.arduino.cc/projecthub, Accessed: 2024.</a:t>
            </a:r>
            <a:endParaRPr sz="1100" b="0" i="0" u="none" strike="noStrike" cap="none">
              <a:solidFill>
                <a:schemeClr val="dk1"/>
              </a:solidFill>
              <a:latin typeface="Calibri"/>
              <a:ea typeface="Calibri"/>
              <a:cs typeface="Calibri"/>
              <a:sym typeface="Calibri"/>
            </a:endParaRPr>
          </a:p>
        </p:txBody>
      </p:sp>
      <p:sp>
        <p:nvSpPr>
          <p:cNvPr id="441" name="Google Shape;441;p23"/>
          <p:cNvSpPr/>
          <p:nvPr/>
        </p:nvSpPr>
        <p:spPr>
          <a:xfrm>
            <a:off x="365760" y="3145536"/>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[5] NXP Semiconductors, "MFRC522 Standard Performance MIFARE and NTAG Frontend Datasheet," NXP Document Rev. 3.9, 2022.</a:t>
            </a:r>
            <a:endParaRPr sz="1100" b="0" i="0" u="none" strike="noStrike" cap="none">
              <a:solidFill>
                <a:schemeClr val="dk1"/>
              </a:solidFill>
              <a:latin typeface="Calibri"/>
              <a:ea typeface="Calibri"/>
              <a:cs typeface="Calibri"/>
              <a:sym typeface="Calibri"/>
            </a:endParaRPr>
          </a:p>
        </p:txBody>
      </p:sp>
      <p:sp>
        <p:nvSpPr>
          <p:cNvPr id="442" name="Google Shape;442;p23"/>
          <p:cNvSpPr/>
          <p:nvPr/>
        </p:nvSpPr>
        <p:spPr>
          <a:xfrm>
            <a:off x="365760" y="3721608"/>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[6] T. Nguyen, L. Tran, "Electric Vehicle Charging Infrastructure Using IoT Monitoring: A Systematic Review," Energies, MDPI, vol. 15, no. 8, p. 2847, 2022.</a:t>
            </a:r>
            <a:endParaRPr sz="1100" b="0" i="0" u="none" strike="noStrike" cap="none">
              <a:solidFill>
                <a:schemeClr val="dk1"/>
              </a:solidFill>
              <a:latin typeface="Calibri"/>
              <a:ea typeface="Calibri"/>
              <a:cs typeface="Calibri"/>
              <a:sym typeface="Calibri"/>
            </a:endParaRPr>
          </a:p>
        </p:txBody>
      </p:sp>
      <p:sp>
        <p:nvSpPr>
          <p:cNvPr id="443" name="Google Shape;443;p23"/>
          <p:cNvSpPr/>
          <p:nvPr/>
        </p:nvSpPr>
        <p:spPr>
          <a:xfrm>
            <a:off x="365760" y="4297680"/>
            <a:ext cx="8412480" cy="5212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C3D2E"/>
              </a:buClr>
              <a:buSzPts val="1100"/>
              <a:buFont typeface="Times New Roman"/>
              <a:buNone/>
            </a:pPr>
            <a:r>
              <a:rPr lang="en-US" sz="1100" b="0" i="0" u="none" strike="noStrike" cap="none">
                <a:solidFill>
                  <a:srgbClr val="5C3D2E"/>
                </a:solidFill>
                <a:latin typeface="Times New Roman"/>
                <a:ea typeface="Times New Roman"/>
                <a:cs typeface="Times New Roman"/>
                <a:sym typeface="Times New Roman"/>
              </a:rPr>
              <a:t>[7] Aosong Electronics, "DHT11 Temperature &amp; Relative Humidity Sensor Data Sheet," Available: https://www.aosong.com, 2023.</a:t>
            </a:r>
            <a:endParaRPr sz="1100" b="0" i="0" u="none" strike="noStrike" cap="none">
              <a:solidFill>
                <a:schemeClr val="dk1"/>
              </a:solidFill>
              <a:latin typeface="Calibri"/>
              <a:ea typeface="Calibri"/>
              <a:cs typeface="Calibri"/>
              <a:sym typeface="Calibri"/>
            </a:endParaRPr>
          </a:p>
        </p:txBody>
      </p:sp>
      <p:sp>
        <p:nvSpPr>
          <p:cNvPr id="444" name="Google Shape;444;p23"/>
          <p:cNvSpPr/>
          <p:nvPr/>
        </p:nvSpPr>
        <p:spPr>
          <a:xfrm>
            <a:off x="0" y="4983480"/>
            <a:ext cx="9144000" cy="160020"/>
          </a:xfrm>
          <a:prstGeom prst="rect">
            <a:avLst/>
          </a:prstGeom>
          <a:solidFill>
            <a:srgbClr val="E8DDD0"/>
          </a:solidFill>
          <a:ln w="12700" cap="flat" cmpd="sng">
            <a:solidFill>
              <a:srgbClr val="E8DDD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D2B1F"/>
        </a:solidFill>
        <a:effectLst/>
      </p:bgPr>
    </p:bg>
    <p:spTree>
      <p:nvGrpSpPr>
        <p:cNvPr id="1" name="Shape 449"/>
        <p:cNvGrpSpPr/>
        <p:nvPr/>
      </p:nvGrpSpPr>
      <p:grpSpPr>
        <a:xfrm>
          <a:off x="0" y="0"/>
          <a:ext cx="0" cy="0"/>
          <a:chOff x="0" y="0"/>
          <a:chExt cx="0" cy="0"/>
        </a:xfrm>
      </p:grpSpPr>
      <p:sp>
        <p:nvSpPr>
          <p:cNvPr id="450" name="Google Shape;450;p24"/>
          <p:cNvSpPr/>
          <p:nvPr/>
        </p:nvSpPr>
        <p:spPr>
          <a:xfrm>
            <a:off x="0" y="0"/>
            <a:ext cx="10972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4"/>
          <p:cNvSpPr/>
          <p:nvPr/>
        </p:nvSpPr>
        <p:spPr>
          <a:xfrm>
            <a:off x="9034272" y="0"/>
            <a:ext cx="109728" cy="5143500"/>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4"/>
          <p:cNvSpPr/>
          <p:nvPr/>
        </p:nvSpPr>
        <p:spPr>
          <a:xfrm>
            <a:off x="0" y="0"/>
            <a:ext cx="9144000" cy="73152"/>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4"/>
          <p:cNvSpPr/>
          <p:nvPr/>
        </p:nvSpPr>
        <p:spPr>
          <a:xfrm>
            <a:off x="0" y="5070348"/>
            <a:ext cx="9144000" cy="73152"/>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4"/>
          <p:cNvSpPr/>
          <p:nvPr/>
        </p:nvSpPr>
        <p:spPr>
          <a:xfrm>
            <a:off x="365760" y="1005840"/>
            <a:ext cx="8412480" cy="10972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AF7F2"/>
              </a:buClr>
              <a:buSzPts val="5600"/>
              <a:buFont typeface="Georgia"/>
              <a:buNone/>
            </a:pPr>
            <a:r>
              <a:rPr lang="en-US" sz="5600" b="1" i="0" u="none" strike="noStrike" cap="none">
                <a:solidFill>
                  <a:srgbClr val="FAF7F2"/>
                </a:solidFill>
                <a:latin typeface="Georgia"/>
                <a:ea typeface="Georgia"/>
                <a:cs typeface="Georgia"/>
                <a:sym typeface="Georgia"/>
              </a:rPr>
              <a:t>Thank You</a:t>
            </a:r>
            <a:endParaRPr sz="5600" b="0" i="0" u="none" strike="noStrike" cap="none">
              <a:solidFill>
                <a:schemeClr val="dk1"/>
              </a:solidFill>
              <a:latin typeface="Calibri"/>
              <a:ea typeface="Calibri"/>
              <a:cs typeface="Calibri"/>
              <a:sym typeface="Calibri"/>
            </a:endParaRPr>
          </a:p>
        </p:txBody>
      </p:sp>
      <p:sp>
        <p:nvSpPr>
          <p:cNvPr id="455" name="Google Shape;455;p24"/>
          <p:cNvSpPr/>
          <p:nvPr/>
        </p:nvSpPr>
        <p:spPr>
          <a:xfrm>
            <a:off x="2743200" y="2240280"/>
            <a:ext cx="3657600" cy="36576"/>
          </a:xfrm>
          <a:prstGeom prst="rect">
            <a:avLst/>
          </a:prstGeom>
          <a:solidFill>
            <a:srgbClr val="C4956A"/>
          </a:solidFill>
          <a:ln w="12700" cap="flat" cmpd="sng">
            <a:solidFill>
              <a:srgbClr val="C495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4"/>
          <p:cNvSpPr/>
          <p:nvPr/>
        </p:nvSpPr>
        <p:spPr>
          <a:xfrm>
            <a:off x="914400" y="2692903"/>
            <a:ext cx="7315200" cy="502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E6D3"/>
              </a:buClr>
              <a:buSzPts val="1300"/>
              <a:buFont typeface="Times New Roman"/>
              <a:buNone/>
            </a:pPr>
            <a:r>
              <a:rPr lang="en-US" sz="1300" b="0" i="0" u="none" strike="noStrike" cap="none">
                <a:solidFill>
                  <a:srgbClr val="F0E6D3"/>
                </a:solidFill>
                <a:latin typeface="Times New Roman"/>
                <a:ea typeface="Times New Roman"/>
                <a:cs typeface="Times New Roman"/>
                <a:sym typeface="Times New Roman"/>
              </a:rPr>
              <a:t>RFID </a:t>
            </a:r>
            <a:r>
              <a:rPr lang="en-US" sz="1300">
                <a:solidFill>
                  <a:srgbClr val="F0E6D3"/>
                </a:solidFill>
                <a:latin typeface="Times New Roman"/>
                <a:ea typeface="Times New Roman"/>
                <a:cs typeface="Times New Roman"/>
                <a:sym typeface="Times New Roman"/>
              </a:rPr>
              <a:t>Enabled</a:t>
            </a:r>
            <a:r>
              <a:rPr lang="en-US" sz="1300" b="0" i="0" u="none" strike="noStrike" cap="none">
                <a:solidFill>
                  <a:srgbClr val="F0E6D3"/>
                </a:solidFill>
                <a:latin typeface="Times New Roman"/>
                <a:ea typeface="Times New Roman"/>
                <a:cs typeface="Times New Roman"/>
                <a:sym typeface="Times New Roman"/>
              </a:rPr>
              <a:t> EV Parking System using ESP32</a:t>
            </a:r>
            <a:endParaRPr sz="1300" b="0" i="0" u="none" strike="noStrike" cap="none">
              <a:solidFill>
                <a:schemeClr val="dk1"/>
              </a:solidFill>
              <a:latin typeface="Calibri"/>
              <a:ea typeface="Calibri"/>
              <a:cs typeface="Calibri"/>
              <a:sym typeface="Calibri"/>
            </a:endParaRPr>
          </a:p>
        </p:txBody>
      </p:sp>
      <p:sp>
        <p:nvSpPr>
          <p:cNvPr id="457" name="Google Shape;457;p24"/>
          <p:cNvSpPr/>
          <p:nvPr/>
        </p:nvSpPr>
        <p:spPr>
          <a:xfrm>
            <a:off x="914400" y="3232405"/>
            <a:ext cx="7315200" cy="384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714F"/>
              </a:buClr>
              <a:buSzPts val="1200"/>
              <a:buFont typeface="Times New Roman"/>
              <a:buNone/>
            </a:pPr>
            <a:r>
              <a:rPr lang="en-US" sz="1200" b="0" i="0" u="none" strike="noStrike" cap="none">
                <a:solidFill>
                  <a:srgbClr val="A0714F"/>
                </a:solidFill>
                <a:latin typeface="Times New Roman"/>
                <a:ea typeface="Times New Roman"/>
                <a:cs typeface="Times New Roman"/>
                <a:sym typeface="Times New Roman"/>
              </a:rPr>
              <a:t>Department of Electr</a:t>
            </a:r>
            <a:r>
              <a:rPr lang="en-US" sz="1200">
                <a:solidFill>
                  <a:srgbClr val="A0714F"/>
                </a:solidFill>
                <a:latin typeface="Times New Roman"/>
                <a:ea typeface="Times New Roman"/>
                <a:cs typeface="Times New Roman"/>
                <a:sym typeface="Times New Roman"/>
              </a:rPr>
              <a:t>ical</a:t>
            </a:r>
            <a:r>
              <a:rPr lang="en-US" sz="1200" b="0" i="0" u="none" strike="noStrike" cap="none">
                <a:solidFill>
                  <a:srgbClr val="A0714F"/>
                </a:solidFill>
                <a:latin typeface="Times New Roman"/>
                <a:ea typeface="Times New Roman"/>
                <a:cs typeface="Times New Roman"/>
                <a:sym typeface="Times New Roman"/>
              </a:rPr>
              <a:t> Engineering</a:t>
            </a:r>
            <a:endParaRPr sz="1200" b="0" i="0" u="none" strike="noStrike" cap="none">
              <a:solidFill>
                <a:schemeClr val="dk1"/>
              </a:solidFill>
              <a:latin typeface="Calibri"/>
              <a:ea typeface="Calibri"/>
              <a:cs typeface="Calibri"/>
              <a:sym typeface="Calibri"/>
            </a:endParaRPr>
          </a:p>
        </p:txBody>
      </p:sp>
      <p:pic>
        <p:nvPicPr>
          <p:cNvPr id="458" name="Google Shape;458;p24" descr="preencoded.png"/>
          <p:cNvPicPr preferRelativeResize="0"/>
          <p:nvPr/>
        </p:nvPicPr>
        <p:blipFill rotWithShape="1">
          <a:blip r:embed="rId3">
            <a:alphaModFix/>
          </a:blip>
          <a:srcRect/>
          <a:stretch/>
        </p:blipFill>
        <p:spPr>
          <a:xfrm>
            <a:off x="3222170" y="4160495"/>
            <a:ext cx="365760" cy="365760"/>
          </a:xfrm>
          <a:prstGeom prst="rect">
            <a:avLst/>
          </a:prstGeom>
          <a:noFill/>
          <a:ln>
            <a:noFill/>
          </a:ln>
        </p:spPr>
      </p:pic>
      <p:pic>
        <p:nvPicPr>
          <p:cNvPr id="459" name="Google Shape;459;p24" descr="preencoded.png"/>
          <p:cNvPicPr preferRelativeResize="0"/>
          <p:nvPr/>
        </p:nvPicPr>
        <p:blipFill rotWithShape="1">
          <a:blip r:embed="rId4">
            <a:alphaModFix/>
          </a:blip>
          <a:srcRect/>
          <a:stretch/>
        </p:blipFill>
        <p:spPr>
          <a:xfrm>
            <a:off x="3958460" y="4160495"/>
            <a:ext cx="365760" cy="365760"/>
          </a:xfrm>
          <a:prstGeom prst="rect">
            <a:avLst/>
          </a:prstGeom>
          <a:noFill/>
          <a:ln>
            <a:noFill/>
          </a:ln>
        </p:spPr>
      </p:pic>
      <p:pic>
        <p:nvPicPr>
          <p:cNvPr id="460" name="Google Shape;460;p24" descr="preencoded.png"/>
          <p:cNvPicPr preferRelativeResize="0"/>
          <p:nvPr/>
        </p:nvPicPr>
        <p:blipFill rotWithShape="1">
          <a:blip r:embed="rId5">
            <a:alphaModFix/>
          </a:blip>
          <a:srcRect/>
          <a:stretch/>
        </p:blipFill>
        <p:spPr>
          <a:xfrm>
            <a:off x="4776650" y="4160495"/>
            <a:ext cx="365760" cy="365760"/>
          </a:xfrm>
          <a:prstGeom prst="rect">
            <a:avLst/>
          </a:prstGeom>
          <a:noFill/>
          <a:ln>
            <a:noFill/>
          </a:ln>
        </p:spPr>
      </p:pic>
      <p:pic>
        <p:nvPicPr>
          <p:cNvPr id="461" name="Google Shape;461;p24" descr="preencoded.png"/>
          <p:cNvPicPr preferRelativeResize="0"/>
          <p:nvPr/>
        </p:nvPicPr>
        <p:blipFill rotWithShape="1">
          <a:blip r:embed="rId6">
            <a:alphaModFix/>
          </a:blip>
          <a:srcRect/>
          <a:stretch/>
        </p:blipFill>
        <p:spPr>
          <a:xfrm>
            <a:off x="5594815" y="4160495"/>
            <a:ext cx="365760" cy="36576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1687</Words>
  <Application>Microsoft Office PowerPoint</Application>
  <PresentationFormat>On-screen Show (16:9)</PresentationFormat>
  <Paragraphs>269</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Sharvari</dc:creator>
  <cp:lastModifiedBy>Sharvari Kulkarni</cp:lastModifiedBy>
  <cp:revision>1</cp:revision>
  <dcterms:modified xsi:type="dcterms:W3CDTF">2026-05-11T11:58:17Z</dcterms:modified>
</cp:coreProperties>
</file>